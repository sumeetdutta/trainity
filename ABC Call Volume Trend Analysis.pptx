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handoutMasterIdLst>
    <p:handoutMasterId r:id="rId19"/>
  </p:handoutMasterIdLst>
  <p:sldIdLst>
    <p:sldId id="281" r:id="rId5"/>
    <p:sldId id="284" r:id="rId6"/>
    <p:sldId id="280" r:id="rId7"/>
    <p:sldId id="293" r:id="rId8"/>
    <p:sldId id="278" r:id="rId9"/>
    <p:sldId id="261" r:id="rId10"/>
    <p:sldId id="279" r:id="rId11"/>
    <p:sldId id="265" r:id="rId12"/>
    <p:sldId id="277" r:id="rId13"/>
    <p:sldId id="268" r:id="rId14"/>
    <p:sldId id="292" r:id="rId15"/>
    <p:sldId id="294" r:id="rId16"/>
    <p:sldId id="28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85" autoAdjust="0"/>
    <p:restoredTop sz="94879" autoAdjust="0"/>
  </p:normalViewPr>
  <p:slideViewPr>
    <p:cSldViewPr snapToGrid="0">
      <p:cViewPr varScale="1">
        <p:scale>
          <a:sx n="81" d="100"/>
          <a:sy n="81" d="100"/>
        </p:scale>
        <p:origin x="658" y="53"/>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eet Dutta" userId="687e76c24a61dc50" providerId="LiveId" clId="{6589E2E7-98A0-4A4C-B1D4-7DFF2BD4FBDE}"/>
    <pc:docChg chg="undo custSel delSld modSld">
      <pc:chgData name="Sumeet Dutta" userId="687e76c24a61dc50" providerId="LiveId" clId="{6589E2E7-98A0-4A4C-B1D4-7DFF2BD4FBDE}" dt="2024-11-15T12:16:41.216" v="544" actId="1076"/>
      <pc:docMkLst>
        <pc:docMk/>
      </pc:docMkLst>
      <pc:sldChg chg="modSp mod">
        <pc:chgData name="Sumeet Dutta" userId="687e76c24a61dc50" providerId="LiveId" clId="{6589E2E7-98A0-4A4C-B1D4-7DFF2BD4FBDE}" dt="2024-11-11T12:49:08.926" v="455" actId="113"/>
        <pc:sldMkLst>
          <pc:docMk/>
          <pc:sldMk cId="3666674671" sldId="261"/>
        </pc:sldMkLst>
        <pc:spChg chg="mod">
          <ac:chgData name="Sumeet Dutta" userId="687e76c24a61dc50" providerId="LiveId" clId="{6589E2E7-98A0-4A4C-B1D4-7DFF2BD4FBDE}" dt="2024-11-11T12:49:08.926" v="455" actId="113"/>
          <ac:spMkLst>
            <pc:docMk/>
            <pc:sldMk cId="3666674671" sldId="261"/>
            <ac:spMk id="2" creationId="{9635F5E3-2B1C-7C0A-8581-67A9052D13AA}"/>
          </ac:spMkLst>
        </pc:spChg>
      </pc:sldChg>
      <pc:sldChg chg="modSp mod">
        <pc:chgData name="Sumeet Dutta" userId="687e76c24a61dc50" providerId="LiveId" clId="{6589E2E7-98A0-4A4C-B1D4-7DFF2BD4FBDE}" dt="2024-11-11T12:42:21.992" v="348"/>
        <pc:sldMkLst>
          <pc:docMk/>
          <pc:sldMk cId="729609147" sldId="265"/>
        </pc:sldMkLst>
        <pc:spChg chg="mod">
          <ac:chgData name="Sumeet Dutta" userId="687e76c24a61dc50" providerId="LiveId" clId="{6589E2E7-98A0-4A4C-B1D4-7DFF2BD4FBDE}" dt="2024-11-11T12:42:21.992" v="348"/>
          <ac:spMkLst>
            <pc:docMk/>
            <pc:sldMk cId="729609147" sldId="265"/>
            <ac:spMk id="4" creationId="{83302BFD-960F-CBB3-E984-CDC12813A10C}"/>
          </ac:spMkLst>
        </pc:spChg>
      </pc:sldChg>
      <pc:sldChg chg="del">
        <pc:chgData name="Sumeet Dutta" userId="687e76c24a61dc50" providerId="LiveId" clId="{6589E2E7-98A0-4A4C-B1D4-7DFF2BD4FBDE}" dt="2024-11-10T17:23:46.820" v="1" actId="2696"/>
        <pc:sldMkLst>
          <pc:docMk/>
          <pc:sldMk cId="643777997" sldId="266"/>
        </pc:sldMkLst>
      </pc:sldChg>
      <pc:sldChg chg="addSp delSp modSp mod">
        <pc:chgData name="Sumeet Dutta" userId="687e76c24a61dc50" providerId="LiveId" clId="{6589E2E7-98A0-4A4C-B1D4-7DFF2BD4FBDE}" dt="2024-11-15T12:16:41.216" v="544" actId="1076"/>
        <pc:sldMkLst>
          <pc:docMk/>
          <pc:sldMk cId="4259977132" sldId="268"/>
        </pc:sldMkLst>
        <pc:spChg chg="mod">
          <ac:chgData name="Sumeet Dutta" userId="687e76c24a61dc50" providerId="LiveId" clId="{6589E2E7-98A0-4A4C-B1D4-7DFF2BD4FBDE}" dt="2024-11-15T12:15:46.784" v="536" actId="1076"/>
          <ac:spMkLst>
            <pc:docMk/>
            <pc:sldMk cId="4259977132" sldId="268"/>
            <ac:spMk id="2" creationId="{B7545968-70F7-0180-6448-3547E442EF4A}"/>
          </ac:spMkLst>
        </pc:spChg>
        <pc:spChg chg="mod">
          <ac:chgData name="Sumeet Dutta" userId="687e76c24a61dc50" providerId="LiveId" clId="{6589E2E7-98A0-4A4C-B1D4-7DFF2BD4FBDE}" dt="2024-11-11T12:44:04.415" v="350"/>
          <ac:spMkLst>
            <pc:docMk/>
            <pc:sldMk cId="4259977132" sldId="268"/>
            <ac:spMk id="8" creationId="{215CE58D-2739-522B-7C3A-6A7C985360C0}"/>
          </ac:spMkLst>
        </pc:spChg>
        <pc:graphicFrameChg chg="add del mod">
          <ac:chgData name="Sumeet Dutta" userId="687e76c24a61dc50" providerId="LiveId" clId="{6589E2E7-98A0-4A4C-B1D4-7DFF2BD4FBDE}" dt="2024-11-15T12:16:14.871" v="538" actId="21"/>
          <ac:graphicFrameMkLst>
            <pc:docMk/>
            <pc:sldMk cId="4259977132" sldId="268"/>
            <ac:graphicFrameMk id="3" creationId="{009FB2E4-A2E9-3BB7-A85A-A8D33CBBD3E7}"/>
          </ac:graphicFrameMkLst>
        </pc:graphicFrameChg>
        <pc:graphicFrameChg chg="add del mod">
          <ac:chgData name="Sumeet Dutta" userId="687e76c24a61dc50" providerId="LiveId" clId="{6589E2E7-98A0-4A4C-B1D4-7DFF2BD4FBDE}" dt="2024-11-15T12:14:53.137" v="529" actId="21"/>
          <ac:graphicFrameMkLst>
            <pc:docMk/>
            <pc:sldMk cId="4259977132" sldId="268"/>
            <ac:graphicFrameMk id="4" creationId="{CF7A41C9-3BAA-3DA5-E8EF-94166FF1B792}"/>
          </ac:graphicFrameMkLst>
        </pc:graphicFrameChg>
        <pc:graphicFrameChg chg="add mod">
          <ac:chgData name="Sumeet Dutta" userId="687e76c24a61dc50" providerId="LiveId" clId="{6589E2E7-98A0-4A4C-B1D4-7DFF2BD4FBDE}" dt="2024-11-15T12:16:41.216" v="544" actId="1076"/>
          <ac:graphicFrameMkLst>
            <pc:docMk/>
            <pc:sldMk cId="4259977132" sldId="268"/>
            <ac:graphicFrameMk id="5" creationId="{009FB2E4-A2E9-3BB7-A85A-A8D33CBBD3E7}"/>
          </ac:graphicFrameMkLst>
        </pc:graphicFrameChg>
        <pc:graphicFrameChg chg="del">
          <ac:chgData name="Sumeet Dutta" userId="687e76c24a61dc50" providerId="LiveId" clId="{6589E2E7-98A0-4A4C-B1D4-7DFF2BD4FBDE}" dt="2024-11-11T12:33:00.982" v="29" actId="21"/>
          <ac:graphicFrameMkLst>
            <pc:docMk/>
            <pc:sldMk cId="4259977132" sldId="268"/>
            <ac:graphicFrameMk id="12" creationId="{009FB2E4-A2E9-3BB7-A85A-A8D33CBBD3E7}"/>
          </ac:graphicFrameMkLst>
        </pc:graphicFrameChg>
      </pc:sldChg>
      <pc:sldChg chg="modSp mod">
        <pc:chgData name="Sumeet Dutta" userId="687e76c24a61dc50" providerId="LiveId" clId="{6589E2E7-98A0-4A4C-B1D4-7DFF2BD4FBDE}" dt="2024-11-11T12:43:01.454" v="349"/>
        <pc:sldMkLst>
          <pc:docMk/>
          <pc:sldMk cId="1649597717" sldId="277"/>
        </pc:sldMkLst>
        <pc:spChg chg="mod">
          <ac:chgData name="Sumeet Dutta" userId="687e76c24a61dc50" providerId="LiveId" clId="{6589E2E7-98A0-4A4C-B1D4-7DFF2BD4FBDE}" dt="2024-11-11T12:43:01.454" v="349"/>
          <ac:spMkLst>
            <pc:docMk/>
            <pc:sldMk cId="1649597717" sldId="277"/>
            <ac:spMk id="3" creationId="{ECC8AA23-D8D0-93BE-5C5F-103A750B0D2F}"/>
          </ac:spMkLst>
        </pc:spChg>
      </pc:sldChg>
      <pc:sldChg chg="modSp mod">
        <pc:chgData name="Sumeet Dutta" userId="687e76c24a61dc50" providerId="LiveId" clId="{6589E2E7-98A0-4A4C-B1D4-7DFF2BD4FBDE}" dt="2024-11-11T12:49:18.472" v="457" actId="113"/>
        <pc:sldMkLst>
          <pc:docMk/>
          <pc:sldMk cId="3930438526" sldId="278"/>
        </pc:sldMkLst>
        <pc:spChg chg="mod">
          <ac:chgData name="Sumeet Dutta" userId="687e76c24a61dc50" providerId="LiveId" clId="{6589E2E7-98A0-4A4C-B1D4-7DFF2BD4FBDE}" dt="2024-11-11T12:49:18.472" v="457" actId="113"/>
          <ac:spMkLst>
            <pc:docMk/>
            <pc:sldMk cId="3930438526" sldId="278"/>
            <ac:spMk id="2" creationId="{954ABE40-AA00-F366-A36A-B3F1AADBF025}"/>
          </ac:spMkLst>
        </pc:spChg>
      </pc:sldChg>
      <pc:sldChg chg="modSp mod">
        <pc:chgData name="Sumeet Dutta" userId="687e76c24a61dc50" providerId="LiveId" clId="{6589E2E7-98A0-4A4C-B1D4-7DFF2BD4FBDE}" dt="2024-11-11T12:49:05.331" v="454" actId="113"/>
        <pc:sldMkLst>
          <pc:docMk/>
          <pc:sldMk cId="2243159397" sldId="279"/>
        </pc:sldMkLst>
        <pc:spChg chg="mod">
          <ac:chgData name="Sumeet Dutta" userId="687e76c24a61dc50" providerId="LiveId" clId="{6589E2E7-98A0-4A4C-B1D4-7DFF2BD4FBDE}" dt="2024-11-11T12:49:05.331" v="454" actId="113"/>
          <ac:spMkLst>
            <pc:docMk/>
            <pc:sldMk cId="2243159397" sldId="279"/>
            <ac:spMk id="2" creationId="{47A9874B-BCA9-8420-1595-EDD1865A099A}"/>
          </ac:spMkLst>
        </pc:spChg>
      </pc:sldChg>
      <pc:sldChg chg="modSp mod">
        <pc:chgData name="Sumeet Dutta" userId="687e76c24a61dc50" providerId="LiveId" clId="{6589E2E7-98A0-4A4C-B1D4-7DFF2BD4FBDE}" dt="2024-11-11T12:49:27.621" v="459" actId="113"/>
        <pc:sldMkLst>
          <pc:docMk/>
          <pc:sldMk cId="467869221" sldId="280"/>
        </pc:sldMkLst>
        <pc:spChg chg="mod">
          <ac:chgData name="Sumeet Dutta" userId="687e76c24a61dc50" providerId="LiveId" clId="{6589E2E7-98A0-4A4C-B1D4-7DFF2BD4FBDE}" dt="2024-11-11T12:49:27.621" v="459" actId="113"/>
          <ac:spMkLst>
            <pc:docMk/>
            <pc:sldMk cId="467869221" sldId="280"/>
            <ac:spMk id="3" creationId="{B2F3FA79-DE26-1F2A-0CF7-5671B73C8B6F}"/>
          </ac:spMkLst>
        </pc:spChg>
      </pc:sldChg>
      <pc:sldChg chg="modSp mod">
        <pc:chgData name="Sumeet Dutta" userId="687e76c24a61dc50" providerId="LiveId" clId="{6589E2E7-98A0-4A4C-B1D4-7DFF2BD4FBDE}" dt="2024-11-11T12:51:02.426" v="522" actId="113"/>
        <pc:sldMkLst>
          <pc:docMk/>
          <pc:sldMk cId="2184472291" sldId="282"/>
        </pc:sldMkLst>
        <pc:spChg chg="mod">
          <ac:chgData name="Sumeet Dutta" userId="687e76c24a61dc50" providerId="LiveId" clId="{6589E2E7-98A0-4A4C-B1D4-7DFF2BD4FBDE}" dt="2024-11-11T12:51:02.426" v="522" actId="113"/>
          <ac:spMkLst>
            <pc:docMk/>
            <pc:sldMk cId="2184472291" sldId="282"/>
            <ac:spMk id="7" creationId="{4AB1CD4B-2C7F-1593-8E69-B7450F3DCAD6}"/>
          </ac:spMkLst>
        </pc:spChg>
        <pc:spChg chg="mod">
          <ac:chgData name="Sumeet Dutta" userId="687e76c24a61dc50" providerId="LiveId" clId="{6589E2E7-98A0-4A4C-B1D4-7DFF2BD4FBDE}" dt="2024-11-11T12:50:54.062" v="521" actId="403"/>
          <ac:spMkLst>
            <pc:docMk/>
            <pc:sldMk cId="2184472291" sldId="282"/>
            <ac:spMk id="8" creationId="{86613063-168A-02B8-4326-BB842F3B83E2}"/>
          </ac:spMkLst>
        </pc:spChg>
      </pc:sldChg>
      <pc:sldChg chg="modSp mod">
        <pc:chgData name="Sumeet Dutta" userId="687e76c24a61dc50" providerId="LiveId" clId="{6589E2E7-98A0-4A4C-B1D4-7DFF2BD4FBDE}" dt="2024-11-11T12:49:35.406" v="460" actId="113"/>
        <pc:sldMkLst>
          <pc:docMk/>
          <pc:sldMk cId="1672017990" sldId="284"/>
        </pc:sldMkLst>
        <pc:spChg chg="mod">
          <ac:chgData name="Sumeet Dutta" userId="687e76c24a61dc50" providerId="LiveId" clId="{6589E2E7-98A0-4A4C-B1D4-7DFF2BD4FBDE}" dt="2024-11-11T12:49:35.406" v="460" actId="113"/>
          <ac:spMkLst>
            <pc:docMk/>
            <pc:sldMk cId="1672017990" sldId="284"/>
            <ac:spMk id="2" creationId="{081AD706-11EF-C258-EBD5-C4EEFEAACF16}"/>
          </ac:spMkLst>
        </pc:spChg>
      </pc:sldChg>
      <pc:sldChg chg="modSp mod">
        <pc:chgData name="Sumeet Dutta" userId="687e76c24a61dc50" providerId="LiveId" clId="{6589E2E7-98A0-4A4C-B1D4-7DFF2BD4FBDE}" dt="2024-11-11T12:46:47.249" v="444"/>
        <pc:sldMkLst>
          <pc:docMk/>
          <pc:sldMk cId="4233691277" sldId="292"/>
        </pc:sldMkLst>
        <pc:spChg chg="mod">
          <ac:chgData name="Sumeet Dutta" userId="687e76c24a61dc50" providerId="LiveId" clId="{6589E2E7-98A0-4A4C-B1D4-7DFF2BD4FBDE}" dt="2024-11-11T12:46:47.249" v="444"/>
          <ac:spMkLst>
            <pc:docMk/>
            <pc:sldMk cId="4233691277" sldId="292"/>
            <ac:spMk id="6" creationId="{35BD3C54-BDF5-2AE3-F55E-5BCB400D4E04}"/>
          </ac:spMkLst>
        </pc:spChg>
        <pc:graphicFrameChg chg="mod modGraphic">
          <ac:chgData name="Sumeet Dutta" userId="687e76c24a61dc50" providerId="LiveId" clId="{6589E2E7-98A0-4A4C-B1D4-7DFF2BD4FBDE}" dt="2024-11-11T12:35:27.238" v="45" actId="403"/>
          <ac:graphicFrameMkLst>
            <pc:docMk/>
            <pc:sldMk cId="4233691277" sldId="292"/>
            <ac:graphicFrameMk id="5" creationId="{C771E4AF-8445-2BD3-EAA6-384091D7FFE1}"/>
          </ac:graphicFrameMkLst>
        </pc:graphicFrameChg>
      </pc:sldChg>
      <pc:sldChg chg="addSp delSp modSp mod">
        <pc:chgData name="Sumeet Dutta" userId="687e76c24a61dc50" providerId="LiveId" clId="{6589E2E7-98A0-4A4C-B1D4-7DFF2BD4FBDE}" dt="2024-11-11T12:49:23.603" v="458" actId="113"/>
        <pc:sldMkLst>
          <pc:docMk/>
          <pc:sldMk cId="767686853" sldId="293"/>
        </pc:sldMkLst>
        <pc:spChg chg="mod">
          <ac:chgData name="Sumeet Dutta" userId="687e76c24a61dc50" providerId="LiveId" clId="{6589E2E7-98A0-4A4C-B1D4-7DFF2BD4FBDE}" dt="2024-11-11T12:49:23.603" v="458" actId="113"/>
          <ac:spMkLst>
            <pc:docMk/>
            <pc:sldMk cId="767686853" sldId="293"/>
            <ac:spMk id="2" creationId="{C535039F-A67C-2A6F-EFA3-71A8AA7D6F72}"/>
          </ac:spMkLst>
        </pc:spChg>
        <pc:graphicFrameChg chg="add del mod">
          <ac:chgData name="Sumeet Dutta" userId="687e76c24a61dc50" providerId="LiveId" clId="{6589E2E7-98A0-4A4C-B1D4-7DFF2BD4FBDE}" dt="2024-11-11T12:30:18.135" v="4" actId="21"/>
          <ac:graphicFrameMkLst>
            <pc:docMk/>
            <pc:sldMk cId="767686853" sldId="293"/>
            <ac:graphicFrameMk id="3" creationId="{296BC56B-DF9F-CB59-034C-112C88BDCE11}"/>
          </ac:graphicFrameMkLst>
        </pc:graphicFrameChg>
        <pc:graphicFrameChg chg="add del mod modGraphic">
          <ac:chgData name="Sumeet Dutta" userId="687e76c24a61dc50" providerId="LiveId" clId="{6589E2E7-98A0-4A4C-B1D4-7DFF2BD4FBDE}" dt="2024-11-11T12:30:37.363" v="8" actId="21"/>
          <ac:graphicFrameMkLst>
            <pc:docMk/>
            <pc:sldMk cId="767686853" sldId="293"/>
            <ac:graphicFrameMk id="4" creationId="{E3E412F3-D729-6913-55C7-64A791B9F65C}"/>
          </ac:graphicFrameMkLst>
        </pc:graphicFrameChg>
        <pc:graphicFrameChg chg="add del mod modGraphic">
          <ac:chgData name="Sumeet Dutta" userId="687e76c24a61dc50" providerId="LiveId" clId="{6589E2E7-98A0-4A4C-B1D4-7DFF2BD4FBDE}" dt="2024-11-11T12:32:37.645" v="25" actId="12385"/>
          <ac:graphicFrameMkLst>
            <pc:docMk/>
            <pc:sldMk cId="767686853" sldId="293"/>
            <ac:graphicFrameMk id="5" creationId="{677FA76A-F290-15BD-E127-94C92031C3C4}"/>
          </ac:graphicFrameMkLst>
        </pc:graphicFrameChg>
        <pc:graphicFrameChg chg="del">
          <ac:chgData name="Sumeet Dutta" userId="687e76c24a61dc50" providerId="LiveId" clId="{6589E2E7-98A0-4A4C-B1D4-7DFF2BD4FBDE}" dt="2024-11-11T12:29:34.757" v="2" actId="21"/>
          <ac:graphicFrameMkLst>
            <pc:docMk/>
            <pc:sldMk cId="767686853" sldId="293"/>
            <ac:graphicFrameMk id="10" creationId="{99EACD68-7CD8-896C-8742-62B170C85959}"/>
          </ac:graphicFrameMkLst>
        </pc:graphicFrameChg>
      </pc:sldChg>
      <pc:sldChg chg="modSp mod">
        <pc:chgData name="Sumeet Dutta" userId="687e76c24a61dc50" providerId="LiveId" clId="{6589E2E7-98A0-4A4C-B1D4-7DFF2BD4FBDE}" dt="2024-11-11T12:48:46.498" v="453" actId="113"/>
        <pc:sldMkLst>
          <pc:docMk/>
          <pc:sldMk cId="3073920595" sldId="294"/>
        </pc:sldMkLst>
        <pc:spChg chg="mod">
          <ac:chgData name="Sumeet Dutta" userId="687e76c24a61dc50" providerId="LiveId" clId="{6589E2E7-98A0-4A4C-B1D4-7DFF2BD4FBDE}" dt="2024-11-11T12:48:46.498" v="453" actId="113"/>
          <ac:spMkLst>
            <pc:docMk/>
            <pc:sldMk cId="3073920595" sldId="294"/>
            <ac:spMk id="5" creationId="{998C5835-2D26-7ADF-3551-A535E6AC22A6}"/>
          </ac:spMkLst>
        </pc:spChg>
        <pc:spChg chg="mod">
          <ac:chgData name="Sumeet Dutta" userId="687e76c24a61dc50" providerId="LiveId" clId="{6589E2E7-98A0-4A4C-B1D4-7DFF2BD4FBDE}" dt="2024-11-11T12:48:29.061" v="452" actId="242"/>
          <ac:spMkLst>
            <pc:docMk/>
            <pc:sldMk cId="3073920595" sldId="294"/>
            <ac:spMk id="6" creationId="{306A0FAE-9960-4C35-67BB-E1791BA6228F}"/>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687e76c24a61dc50/Documents/Trainity%20project/New%20folder/Call_Volume_Trend_Analysis_Project_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687e76c24a61dc50/Documents/Trainity%20project/New%20folder/Call_Volume_Trend_Analysis_Project_9.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687e76c24a61dc50/Documents/Trainity%20project/New%20folder/Call_Volume_Trend_Analysis_Project_9.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[Call_Volume_Trend_Analysis_Project_9.xlsx]Task 1!PivotTable1</c:name>
    <c:fmtId val="6"/>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8065501016957807E-2"/>
          <c:y val="0.19971983615684402"/>
          <c:w val="0.93351758001420371"/>
          <c:h val="0.6412831066571224"/>
        </c:manualLayout>
      </c:layout>
      <c:barChart>
        <c:barDir val="col"/>
        <c:grouping val="clustered"/>
        <c:varyColors val="0"/>
        <c:ser>
          <c:idx val="0"/>
          <c:order val="0"/>
          <c:tx>
            <c:strRef>
              <c:f>'Task 1'!$B$3</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'Task 1'!$B$3</c:f>
              <c:strCache>
                <c:ptCount val="12"/>
                <c:pt idx="0">
                  <c:v>9_10</c:v>
                </c:pt>
                <c:pt idx="1">
                  <c:v>10_11</c:v>
                </c:pt>
                <c:pt idx="2">
                  <c:v>11_12</c:v>
                </c:pt>
                <c:pt idx="3">
                  <c:v>12_13</c:v>
                </c:pt>
                <c:pt idx="4">
                  <c:v>13_14</c:v>
                </c:pt>
                <c:pt idx="5">
                  <c:v>14_15</c:v>
                </c:pt>
                <c:pt idx="6">
                  <c:v>15_16</c:v>
                </c:pt>
                <c:pt idx="7">
                  <c:v>16_17</c:v>
                </c:pt>
                <c:pt idx="8">
                  <c:v>17_18</c:v>
                </c:pt>
                <c:pt idx="9">
                  <c:v>18_19</c:v>
                </c:pt>
                <c:pt idx="10">
                  <c:v>19_20</c:v>
                </c:pt>
                <c:pt idx="11">
                  <c:v>20_21</c:v>
                </c:pt>
              </c:strCache>
            </c:strRef>
          </c:cat>
          <c:val>
            <c:numRef>
              <c:f>'Task 1'!$B$3</c:f>
              <c:numCache>
                <c:formatCode>0</c:formatCode>
                <c:ptCount val="12"/>
                <c:pt idx="0">
                  <c:v>198.73732822707817</c:v>
                </c:pt>
                <c:pt idx="1">
                  <c:v>202.59387691346456</c:v>
                </c:pt>
                <c:pt idx="2">
                  <c:v>198.66003721795767</c:v>
                </c:pt>
                <c:pt idx="3">
                  <c:v>191.1536694853325</c:v>
                </c:pt>
                <c:pt idx="4">
                  <c:v>193.29639982110913</c:v>
                </c:pt>
                <c:pt idx="5">
                  <c:v>191.95436557012118</c:v>
                </c:pt>
                <c:pt idx="6">
                  <c:v>195.85714285714286</c:v>
                </c:pt>
                <c:pt idx="7">
                  <c:v>198.29486382290759</c:v>
                </c:pt>
                <c:pt idx="8">
                  <c:v>197.8801444974842</c:v>
                </c:pt>
                <c:pt idx="9">
                  <c:v>200.12085646312451</c:v>
                </c:pt>
                <c:pt idx="10">
                  <c:v>202.47822318526545</c:v>
                </c:pt>
                <c:pt idx="11">
                  <c:v>202.51736111111111</c:v>
                </c:pt>
              </c:numCache>
            </c:numRef>
          </c:val>
          <c:extLst>
            <c:ext xmlns:c16="http://schemas.microsoft.com/office/drawing/2014/chart" uri="{C3380CC4-5D6E-409C-BE32-E72D297353CC}">
              <c16:uniqueId val="{00000000-0841-402A-8286-3B1EDBA9DA0B}"/>
            </c:ext>
          </c:extLst>
        </c:ser>
        <c:dLbls>
          <c:showLegendKey val="0"/>
          <c:showVal val="0"/>
          <c:showCatName val="0"/>
          <c:showSerName val="0"/>
          <c:showPercent val="0"/>
          <c:showBubbleSize val="0"/>
        </c:dLbls>
        <c:gapWidth val="100"/>
        <c:overlap val="-24"/>
        <c:axId val="724952447"/>
        <c:axId val="724948607"/>
      </c:barChart>
      <c:catAx>
        <c:axId val="724952447"/>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Time buckets</a:t>
                </a:r>
              </a:p>
            </c:rich>
          </c:tx>
          <c:layout>
            <c:manualLayout>
              <c:xMode val="edge"/>
              <c:yMode val="edge"/>
              <c:x val="0.49768583980840542"/>
              <c:y val="0.92736220472440944"/>
            </c:manualLayout>
          </c:layout>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24948607"/>
        <c:crosses val="autoZero"/>
        <c:auto val="1"/>
        <c:lblAlgn val="ctr"/>
        <c:lblOffset val="100"/>
        <c:noMultiLvlLbl val="0"/>
      </c:catAx>
      <c:valAx>
        <c:axId val="724948607"/>
        <c:scaling>
          <c:orientation val="minMax"/>
        </c:scaling>
        <c:delete val="1"/>
        <c:axPos val="l"/>
        <c:title>
          <c:tx>
            <c:strRef>
              <c:f>'Task 1'!$B$3</c:f>
              <c:strCache>
                <c:ptCount val="1"/>
                <c:pt idx="0">
                  <c:v>Average of Call_Seconds (s)</c:v>
                </c:pt>
              </c:strCache>
            </c:strRef>
          </c:tx>
          <c:layout>
            <c:manualLayout>
              <c:xMode val="edge"/>
              <c:yMode val="edge"/>
              <c:x val="1.2735903670255877E-2"/>
              <c:y val="0.36169967390439833"/>
            </c:manualLayout>
          </c:layout>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0" sourceLinked="1"/>
        <c:majorTickMark val="none"/>
        <c:minorTickMark val="none"/>
        <c:tickLblPos val="nextTo"/>
        <c:crossAx val="72495244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[Call_Volume_Trend_Analysis_Project_9.xlsx]Task 2!PivotTable2</c:name>
    <c:fmtId val="6"/>
  </c:pivotSource>
  <c:chart>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9288832558794536E-2"/>
          <c:y val="8.0406289339224446E-2"/>
          <c:w val="0.93601333736958414"/>
          <c:h val="0.7916475370045829"/>
        </c:manualLayout>
      </c:layout>
      <c:barChart>
        <c:barDir val="col"/>
        <c:grouping val="clustered"/>
        <c:varyColors val="0"/>
        <c:ser>
          <c:idx val="0"/>
          <c:order val="0"/>
          <c:tx>
            <c:strRef>
              <c:f>'Task 2'!$B$3</c:f>
              <c:strCache>
                <c:ptCount val="1"/>
                <c:pt idx="0">
                  <c:v>Count of Customer_Phone_No</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'Task 2'!$A$3</c:f>
              <c:strCache>
                <c:ptCount val="12"/>
                <c:pt idx="0">
                  <c:v>9_10</c:v>
                </c:pt>
                <c:pt idx="1">
                  <c:v>10_11</c:v>
                </c:pt>
                <c:pt idx="2">
                  <c:v>11_12</c:v>
                </c:pt>
                <c:pt idx="3">
                  <c:v>12_13</c:v>
                </c:pt>
                <c:pt idx="4">
                  <c:v>13_14</c:v>
                </c:pt>
                <c:pt idx="5">
                  <c:v>14_15</c:v>
                </c:pt>
                <c:pt idx="6">
                  <c:v>15_16</c:v>
                </c:pt>
                <c:pt idx="7">
                  <c:v>16_17</c:v>
                </c:pt>
                <c:pt idx="8">
                  <c:v>17_18</c:v>
                </c:pt>
                <c:pt idx="9">
                  <c:v>18_19</c:v>
                </c:pt>
                <c:pt idx="10">
                  <c:v>19_20</c:v>
                </c:pt>
                <c:pt idx="11">
                  <c:v>20_21</c:v>
                </c:pt>
              </c:strCache>
            </c:strRef>
          </c:cat>
          <c:val>
            <c:numRef>
              <c:f>'Task 2'!$A$3</c:f>
              <c:numCache>
                <c:formatCode>General</c:formatCode>
                <c:ptCount val="12"/>
                <c:pt idx="0">
                  <c:v>9588</c:v>
                </c:pt>
                <c:pt idx="1">
                  <c:v>13313</c:v>
                </c:pt>
                <c:pt idx="2">
                  <c:v>14626</c:v>
                </c:pt>
                <c:pt idx="3">
                  <c:v>12652</c:v>
                </c:pt>
                <c:pt idx="4">
                  <c:v>11561</c:v>
                </c:pt>
                <c:pt idx="5">
                  <c:v>10561</c:v>
                </c:pt>
                <c:pt idx="6">
                  <c:v>9159</c:v>
                </c:pt>
                <c:pt idx="7">
                  <c:v>8788</c:v>
                </c:pt>
                <c:pt idx="8">
                  <c:v>8534</c:v>
                </c:pt>
                <c:pt idx="9">
                  <c:v>7238</c:v>
                </c:pt>
                <c:pt idx="10">
                  <c:v>6463</c:v>
                </c:pt>
                <c:pt idx="11">
                  <c:v>5505</c:v>
                </c:pt>
              </c:numCache>
            </c:numRef>
          </c:val>
          <c:extLst>
            <c:ext xmlns:c16="http://schemas.microsoft.com/office/drawing/2014/chart" uri="{C3380CC4-5D6E-409C-BE32-E72D297353CC}">
              <c16:uniqueId val="{00000000-3AAB-4819-89CF-F03E418D342C}"/>
            </c:ext>
          </c:extLst>
        </c:ser>
        <c:ser>
          <c:idx val="1"/>
          <c:order val="1"/>
          <c:tx>
            <c:strRef>
              <c:f>'Task 2'!$C$3</c:f>
              <c:strCache>
                <c:ptCount val="1"/>
                <c:pt idx="0">
                  <c:v>Count of Call_Seconds (s)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'Task 2'!$A$3</c:f>
              <c:strCache>
                <c:ptCount val="12"/>
                <c:pt idx="0">
                  <c:v>9_10</c:v>
                </c:pt>
                <c:pt idx="1">
                  <c:v>10_11</c:v>
                </c:pt>
                <c:pt idx="2">
                  <c:v>11_12</c:v>
                </c:pt>
                <c:pt idx="3">
                  <c:v>12_13</c:v>
                </c:pt>
                <c:pt idx="4">
                  <c:v>13_14</c:v>
                </c:pt>
                <c:pt idx="5">
                  <c:v>14_15</c:v>
                </c:pt>
                <c:pt idx="6">
                  <c:v>15_16</c:v>
                </c:pt>
                <c:pt idx="7">
                  <c:v>16_17</c:v>
                </c:pt>
                <c:pt idx="8">
                  <c:v>17_18</c:v>
                </c:pt>
                <c:pt idx="9">
                  <c:v>18_19</c:v>
                </c:pt>
                <c:pt idx="10">
                  <c:v>19_20</c:v>
                </c:pt>
                <c:pt idx="11">
                  <c:v>20_21</c:v>
                </c:pt>
              </c:strCache>
            </c:strRef>
          </c:cat>
          <c:val>
            <c:numRef>
              <c:f>'Task 2'!$A$3</c:f>
              <c:numCache>
                <c:formatCode>0.00%</c:formatCode>
                <c:ptCount val="12"/>
                <c:pt idx="0">
                  <c:v>8.1262501271315721E-2</c:v>
                </c:pt>
                <c:pt idx="1">
                  <c:v>0.11283350849238906</c:v>
                </c:pt>
                <c:pt idx="2">
                  <c:v>0.12396175882293115</c:v>
                </c:pt>
                <c:pt idx="3">
                  <c:v>0.10723124385530731</c:v>
                </c:pt>
                <c:pt idx="4">
                  <c:v>9.7984540800759398E-2</c:v>
                </c:pt>
                <c:pt idx="5">
                  <c:v>8.9509102620605491E-2</c:v>
                </c:pt>
                <c:pt idx="6">
                  <c:v>7.7626538292029701E-2</c:v>
                </c:pt>
                <c:pt idx="7">
                  <c:v>7.4482150727192595E-2</c:v>
                </c:pt>
                <c:pt idx="8">
                  <c:v>7.2329389429433497E-2</c:v>
                </c:pt>
                <c:pt idx="9">
                  <c:v>6.1345221547954028E-2</c:v>
                </c:pt>
                <c:pt idx="10">
                  <c:v>5.4776756958334748E-2</c:v>
                </c:pt>
                <c:pt idx="11">
                  <c:v>4.6657287181747296E-2</c:v>
                </c:pt>
              </c:numCache>
            </c:numRef>
          </c:val>
          <c:extLst>
            <c:ext xmlns:c16="http://schemas.microsoft.com/office/drawing/2014/chart" uri="{C3380CC4-5D6E-409C-BE32-E72D297353CC}">
              <c16:uniqueId val="{00000001-3AAB-4819-89CF-F03E418D342C}"/>
            </c:ext>
          </c:extLst>
        </c:ser>
        <c:dLbls>
          <c:showLegendKey val="0"/>
          <c:showVal val="0"/>
          <c:showCatName val="0"/>
          <c:showSerName val="0"/>
          <c:showPercent val="0"/>
          <c:showBubbleSize val="0"/>
        </c:dLbls>
        <c:gapWidth val="100"/>
        <c:overlap val="-24"/>
        <c:axId val="848951231"/>
        <c:axId val="848956991"/>
      </c:barChart>
      <c:catAx>
        <c:axId val="848951231"/>
        <c:scaling>
          <c:orientation val="minMax"/>
        </c:scaling>
        <c:delete val="0"/>
        <c:axPos val="b"/>
        <c:title>
          <c:tx>
            <c:strRef>
              <c:f>'Task 2'!$A$3</c:f>
              <c:strCache>
                <c:ptCount val="1"/>
                <c:pt idx="0">
                  <c:v>Time Buckets</c:v>
                </c:pt>
              </c:strCache>
            </c:strRef>
          </c:tx>
          <c:layout>
            <c:manualLayout>
              <c:xMode val="edge"/>
              <c:yMode val="edge"/>
              <c:x val="0.48588798073244649"/>
              <c:y val="0.93788002205053522"/>
            </c:manualLayout>
          </c:layout>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848956991"/>
        <c:crosses val="autoZero"/>
        <c:auto val="1"/>
        <c:lblAlgn val="ctr"/>
        <c:lblOffset val="100"/>
        <c:noMultiLvlLbl val="0"/>
      </c:catAx>
      <c:valAx>
        <c:axId val="848956991"/>
        <c:scaling>
          <c:orientation val="minMax"/>
        </c:scaling>
        <c:delete val="1"/>
        <c:axPos val="l"/>
        <c:title>
          <c:tx>
            <c:strRef>
              <c:f>'Task 2'!$B$3</c:f>
              <c:strCache>
                <c:ptCount val="1"/>
                <c:pt idx="0">
                  <c:v>Count of Customer_Phone_No</c:v>
                </c:pt>
              </c:strCache>
            </c:strRef>
          </c:tx>
          <c:layout>
            <c:manualLayout>
              <c:xMode val="edge"/>
              <c:yMode val="edge"/>
              <c:x val="2.1144853724716604E-2"/>
              <c:y val="0.26384103045113089"/>
            </c:manualLayout>
          </c:layout>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crossAx val="848951231"/>
        <c:crosses val="autoZero"/>
        <c:crossBetween val="between"/>
      </c:valAx>
      <c:spPr>
        <a:noFill/>
        <a:ln>
          <a:noFill/>
        </a:ln>
        <a:effectLst/>
      </c:spPr>
    </c:plotArea>
    <c:legend>
      <c:legendPos val="r"/>
      <c:layout>
        <c:manualLayout>
          <c:xMode val="edge"/>
          <c:yMode val="edge"/>
          <c:x val="0.78955509205202323"/>
          <c:y val="4.2476694723504363E-2"/>
          <c:w val="0.18227986077152267"/>
          <c:h val="0.1261226848994972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9977266393755928E-2"/>
          <c:y val="4.1105845982490952E-2"/>
          <c:w val="0.76285512406154876"/>
          <c:h val="0.86603624901497256"/>
        </c:manualLayout>
      </c:layout>
      <c:lineChart>
        <c:grouping val="standard"/>
        <c:varyColors val="0"/>
        <c:ser>
          <c:idx val="0"/>
          <c:order val="0"/>
          <c:tx>
            <c:strRef>
              <c:f>'[Call_Volume_Trend_Analysis_Project_9.xlsx]Task 3 part-2'!$F$22</c:f>
              <c:strCache>
                <c:ptCount val="1"/>
                <c:pt idx="0">
                  <c:v>Total Agent Required (90%)</c:v>
                </c:pt>
              </c:strCache>
            </c:strRef>
          </c:tx>
          <c:spPr>
            <a:ln w="31750" cap="rnd">
              <a:solidFill>
                <a:schemeClr val="accent1"/>
              </a:solidFill>
              <a:round/>
            </a:ln>
            <a:effectLst/>
          </c:spPr>
          <c:marker>
            <c:symbol val="circle"/>
            <c:size val="17"/>
            <c:spPr>
              <a:solidFill>
                <a:schemeClr val="accent1"/>
              </a:solidFill>
              <a:ln>
                <a:no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'[Call_Volume_Trend_Analysis_Project_9.xlsx]Task 3 part-2'!$D$23:$D$34</c:f>
              <c:strCache>
                <c:ptCount val="12"/>
                <c:pt idx="0">
                  <c:v>9_10</c:v>
                </c:pt>
                <c:pt idx="1">
                  <c:v>10_11</c:v>
                </c:pt>
                <c:pt idx="2">
                  <c:v>11_12</c:v>
                </c:pt>
                <c:pt idx="3">
                  <c:v>12_13</c:v>
                </c:pt>
                <c:pt idx="4">
                  <c:v>13_14</c:v>
                </c:pt>
                <c:pt idx="5">
                  <c:v>14_15</c:v>
                </c:pt>
                <c:pt idx="6">
                  <c:v>15_16</c:v>
                </c:pt>
                <c:pt idx="7">
                  <c:v>16_17</c:v>
                </c:pt>
                <c:pt idx="8">
                  <c:v>17_18</c:v>
                </c:pt>
                <c:pt idx="9">
                  <c:v>18_19</c:v>
                </c:pt>
                <c:pt idx="10">
                  <c:v>19_20</c:v>
                </c:pt>
                <c:pt idx="11">
                  <c:v>20_21</c:v>
                </c:pt>
              </c:strCache>
            </c:strRef>
          </c:cat>
          <c:val>
            <c:numRef>
              <c:f>'[Call_Volume_Trend_Analysis_Project_9.xlsx]Task 3 part-2'!$F$23:$F$34</c:f>
              <c:numCache>
                <c:formatCode>0</c:formatCode>
                <c:ptCount val="12"/>
                <c:pt idx="0">
                  <c:v>4.5808257755277948</c:v>
                </c:pt>
                <c:pt idx="1">
                  <c:v>6.3605062108470527</c:v>
                </c:pt>
                <c:pt idx="2">
                  <c:v>6.9878137038871024</c:v>
                </c:pt>
                <c:pt idx="3">
                  <c:v>6.0447025148078497</c:v>
                </c:pt>
                <c:pt idx="4">
                  <c:v>5.5234591980472301</c:v>
                </c:pt>
                <c:pt idx="5">
                  <c:v>5.0456926382299798</c:v>
                </c:pt>
                <c:pt idx="6">
                  <c:v>4.3758639213661947</c:v>
                </c:pt>
                <c:pt idx="7">
                  <c:v>4.198612527673995</c:v>
                </c:pt>
                <c:pt idx="8">
                  <c:v>4.0772598214804132</c:v>
                </c:pt>
                <c:pt idx="9">
                  <c:v>3.4580743599572572</c:v>
                </c:pt>
                <c:pt idx="10">
                  <c:v>3.0878052760988886</c:v>
                </c:pt>
                <c:pt idx="11">
                  <c:v>2.6301049117939628</c:v>
                </c:pt>
              </c:numCache>
            </c:numRef>
          </c:val>
          <c:smooth val="0"/>
          <c:extLst>
            <c:ext xmlns:c16="http://schemas.microsoft.com/office/drawing/2014/chart" uri="{C3380CC4-5D6E-409C-BE32-E72D297353CC}">
              <c16:uniqueId val="{00000000-96D7-4122-83A1-257460E22B91}"/>
            </c:ext>
          </c:extLst>
        </c:ser>
        <c:ser>
          <c:idx val="1"/>
          <c:order val="1"/>
          <c:tx>
            <c:strRef>
              <c:f>'[Call_Volume_Trend_Analysis_Project_9.xlsx]Task 3 part-2'!$J$22</c:f>
              <c:strCache>
                <c:ptCount val="1"/>
                <c:pt idx="0">
                  <c:v>Total Agents Working (70%)</c:v>
                </c:pt>
              </c:strCache>
            </c:strRef>
          </c:tx>
          <c:spPr>
            <a:ln w="31750" cap="rnd">
              <a:solidFill>
                <a:schemeClr val="accent2"/>
              </a:solidFill>
              <a:round/>
            </a:ln>
            <a:effectLst/>
          </c:spPr>
          <c:marker>
            <c:symbol val="circle"/>
            <c:size val="17"/>
            <c:spPr>
              <a:solidFill>
                <a:schemeClr val="accent2"/>
              </a:solidFill>
              <a:ln>
                <a:no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'[Call_Volume_Trend_Analysis_Project_9.xlsx]Task 3 part-2'!$D$23:$D$34</c:f>
              <c:strCache>
                <c:ptCount val="12"/>
                <c:pt idx="0">
                  <c:v>9_10</c:v>
                </c:pt>
                <c:pt idx="1">
                  <c:v>10_11</c:v>
                </c:pt>
                <c:pt idx="2">
                  <c:v>11_12</c:v>
                </c:pt>
                <c:pt idx="3">
                  <c:v>12_13</c:v>
                </c:pt>
                <c:pt idx="4">
                  <c:v>13_14</c:v>
                </c:pt>
                <c:pt idx="5">
                  <c:v>14_15</c:v>
                </c:pt>
                <c:pt idx="6">
                  <c:v>15_16</c:v>
                </c:pt>
                <c:pt idx="7">
                  <c:v>16_17</c:v>
                </c:pt>
                <c:pt idx="8">
                  <c:v>17_18</c:v>
                </c:pt>
                <c:pt idx="9">
                  <c:v>18_19</c:v>
                </c:pt>
                <c:pt idx="10">
                  <c:v>19_20</c:v>
                </c:pt>
                <c:pt idx="11">
                  <c:v>20_21</c:v>
                </c:pt>
              </c:strCache>
            </c:strRef>
          </c:cat>
          <c:val>
            <c:numRef>
              <c:f>'[Call_Volume_Trend_Analysis_Project_9.xlsx]Task 3 part-2'!$J$23:$J$34</c:f>
              <c:numCache>
                <c:formatCode>0</c:formatCode>
                <c:ptCount val="12"/>
                <c:pt idx="0">
                  <c:v>3.562864492077173</c:v>
                </c:pt>
                <c:pt idx="1">
                  <c:v>4.9470603862143729</c:v>
                </c:pt>
                <c:pt idx="2">
                  <c:v>5.4349662141344117</c:v>
                </c:pt>
                <c:pt idx="3">
                  <c:v>4.7014352892949933</c:v>
                </c:pt>
                <c:pt idx="4">
                  <c:v>4.2960238207034003</c:v>
                </c:pt>
                <c:pt idx="5">
                  <c:v>3.924427607512206</c:v>
                </c:pt>
                <c:pt idx="6">
                  <c:v>3.4034497166181512</c:v>
                </c:pt>
                <c:pt idx="7">
                  <c:v>3.2655875215242176</c:v>
                </c:pt>
                <c:pt idx="8">
                  <c:v>3.1712020833736543</c:v>
                </c:pt>
                <c:pt idx="9">
                  <c:v>2.6896133910778661</c:v>
                </c:pt>
                <c:pt idx="10">
                  <c:v>2.4016263258546906</c:v>
                </c:pt>
                <c:pt idx="11">
                  <c:v>2.045637153617526</c:v>
                </c:pt>
              </c:numCache>
            </c:numRef>
          </c:val>
          <c:smooth val="0"/>
          <c:extLst>
            <c:ext xmlns:c16="http://schemas.microsoft.com/office/drawing/2014/chart" uri="{C3380CC4-5D6E-409C-BE32-E72D297353CC}">
              <c16:uniqueId val="{00000001-96D7-4122-83A1-257460E22B91}"/>
            </c:ext>
          </c:extLst>
        </c:ser>
        <c:dLbls>
          <c:dLblPos val="ctr"/>
          <c:showLegendKey val="0"/>
          <c:showVal val="1"/>
          <c:showCatName val="0"/>
          <c:showSerName val="0"/>
          <c:showPercent val="0"/>
          <c:showBubbleSize val="0"/>
        </c:dLbls>
        <c:marker val="1"/>
        <c:smooth val="0"/>
        <c:axId val="1067222431"/>
        <c:axId val="1067229631"/>
      </c:lineChart>
      <c:catAx>
        <c:axId val="1067222431"/>
        <c:scaling>
          <c:orientation val="minMax"/>
        </c:scaling>
        <c:delete val="0"/>
        <c:axPos val="b"/>
        <c:numFmt formatCode="General" sourceLinked="1"/>
        <c:majorTickMark val="out"/>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067229631"/>
        <c:crosses val="autoZero"/>
        <c:auto val="1"/>
        <c:lblAlgn val="ctr"/>
        <c:lblOffset val="100"/>
        <c:noMultiLvlLbl val="0"/>
      </c:catAx>
      <c:valAx>
        <c:axId val="1067229631"/>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 sourceLinked="1"/>
        <c:majorTickMark val="out"/>
        <c:minorTickMark val="none"/>
        <c:tickLblPos val="nextTo"/>
        <c:crossAx val="1067222431"/>
        <c:crosses val="autoZero"/>
        <c:crossBetween val="between"/>
        <c:majorUnit val="1"/>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2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styleClr val="auto"/>
    </cs:fillRef>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17"/>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11/15/2024</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11/15/2024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2295017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854501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1015613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17186319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3467671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74E77-8F7F-C091-A6CD-F95913330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F8D03-BCD3-2516-5A17-7890FD56F6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43AAD0-5D1A-5384-531C-8A99D3C155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E54F1F-92BA-AFB1-9D22-E7208D0FEDEF}"/>
              </a:ext>
            </a:extLst>
          </p:cNvPr>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4126273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11/15/2024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11/15/2024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dirty="0"/>
              <a:t>Click to edit Master title style</a:t>
            </a:r>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11/15/2024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11/15/2024</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11/15/2024</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11/15/2024</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docs.google.com/spreadsheets/d/19AIIRB9j7dEdlCjb569z3YaRUST_2xyn/edit?usp=sharing&amp;ouid=100462539858177935973&amp;rtpof=true&amp;sd=true" TargetMode="External"/><Relationship Id="rId2" Type="http://schemas.openxmlformats.org/officeDocument/2006/relationships/image" Target="../media/image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3048000" y="4562573"/>
            <a:ext cx="9144000" cy="2286000"/>
          </a:xfrm>
        </p:spPr>
        <p:txBody>
          <a:bodyPr/>
          <a:lstStyle/>
          <a:p>
            <a:r>
              <a:rPr lang="en-US" b="1" dirty="0"/>
              <a:t>ABC Call Volume Trend Analysis</a:t>
            </a:r>
            <a:br>
              <a:rPr lang="en-US" b="1" dirty="0"/>
            </a:br>
            <a:br>
              <a:rPr lang="en-US" sz="700" b="1" dirty="0"/>
            </a:br>
            <a:br>
              <a:rPr lang="en-US" sz="700" b="1" dirty="0"/>
            </a:br>
            <a:r>
              <a:rPr lang="en-US" sz="2400" b="1" dirty="0"/>
              <a:t>Sumeet Dutta</a:t>
            </a:r>
            <a:endParaRPr lang="en-US" b="1" dirty="0"/>
          </a:p>
        </p:txBody>
      </p:sp>
      <p:pic>
        <p:nvPicPr>
          <p:cNvPr id="3" name="Picture 2">
            <a:extLst>
              <a:ext uri="{FF2B5EF4-FFF2-40B4-BE49-F238E27FC236}">
                <a16:creationId xmlns:a16="http://schemas.microsoft.com/office/drawing/2014/main" id="{0D862CD3-FFBF-BAF9-EC6B-4BF8BC23B0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8758" y="91905"/>
            <a:ext cx="7301242" cy="4378764"/>
          </a:xfrm>
          <a:prstGeom prst="rect">
            <a:avLst/>
          </a:prstGeom>
        </p:spPr>
      </p:pic>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6562816" y="457200"/>
            <a:ext cx="4837176" cy="1286759"/>
          </a:xfrm>
          <a:noFill/>
        </p:spPr>
        <p:txBody>
          <a:bodyPr anchor="b">
            <a:noAutofit/>
          </a:bodyPr>
          <a:lstStyle/>
          <a:p>
            <a:r>
              <a:rPr lang="en-US" b="1" dirty="0"/>
              <a:t>Content</a:t>
            </a:r>
          </a:p>
        </p:txBody>
      </p:sp>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 r="2"/>
          <a:stretch/>
        </p:blipFill>
        <p:spPr>
          <a:xfrm>
            <a:off x="-28882" y="0"/>
            <a:ext cx="6115050" cy="6858000"/>
          </a:xfrm>
        </p:spPr>
      </p:pic>
      <p:sp>
        <p:nvSpPr>
          <p:cNvPr id="3" name="Content Placeholder 2">
            <a:extLst>
              <a:ext uri="{FF2B5EF4-FFF2-40B4-BE49-F238E27FC236}">
                <a16:creationId xmlns:a16="http://schemas.microsoft.com/office/drawing/2014/main" id="{992EC4A8-49EE-CF82-CFDC-BA9308ED0D65}"/>
              </a:ext>
            </a:extLst>
          </p:cNvPr>
          <p:cNvSpPr>
            <a:spLocks noGrp="1"/>
          </p:cNvSpPr>
          <p:nvPr>
            <p:ph idx="1"/>
          </p:nvPr>
        </p:nvSpPr>
        <p:spPr>
          <a:xfrm>
            <a:off x="6562818" y="2064470"/>
            <a:ext cx="4837174" cy="3824266"/>
          </a:xfrm>
          <a:noFill/>
        </p:spPr>
        <p:txBody>
          <a:bodyPr anchor="t">
            <a:normAutofit/>
          </a:bodyPr>
          <a:lstStyle/>
          <a:p>
            <a:r>
              <a:rPr lang="en-US" dirty="0"/>
              <a:t>Project description</a:t>
            </a:r>
          </a:p>
          <a:p>
            <a:r>
              <a:rPr lang="en-US" dirty="0"/>
              <a:t>assumption</a:t>
            </a:r>
          </a:p>
          <a:p>
            <a:r>
              <a:rPr lang="en-US" dirty="0"/>
              <a:t>Project approach</a:t>
            </a:r>
          </a:p>
          <a:p>
            <a:r>
              <a:rPr lang="en-US" dirty="0"/>
              <a:t>Tech-stack used</a:t>
            </a:r>
          </a:p>
          <a:p>
            <a:r>
              <a:rPr lang="en-US" dirty="0"/>
              <a:t>Objectives</a:t>
            </a:r>
          </a:p>
          <a:p>
            <a:r>
              <a:rPr lang="en-US" dirty="0"/>
              <a:t>Insights or approach</a:t>
            </a:r>
          </a:p>
          <a:p>
            <a:r>
              <a:rPr lang="en-US" dirty="0"/>
              <a:t>results</a:t>
            </a:r>
          </a:p>
        </p:txBody>
      </p:sp>
    </p:spTree>
    <p:extLst>
      <p:ext uri="{BB962C8B-B14F-4D97-AF65-F5344CB8AC3E}">
        <p14:creationId xmlns:p14="http://schemas.microsoft.com/office/powerpoint/2010/main" val="167201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F3FA79-DE26-1F2A-0CF7-5671B73C8B6F}"/>
              </a:ext>
            </a:extLst>
          </p:cNvPr>
          <p:cNvSpPr>
            <a:spLocks noGrp="1"/>
          </p:cNvSpPr>
          <p:nvPr>
            <p:ph type="title"/>
          </p:nvPr>
        </p:nvSpPr>
        <p:spPr/>
        <p:txBody>
          <a:bodyPr/>
          <a:lstStyle/>
          <a:p>
            <a:r>
              <a:rPr lang="en-US" b="1" dirty="0"/>
              <a:t>Project description</a:t>
            </a:r>
          </a:p>
        </p:txBody>
      </p:sp>
      <p:sp>
        <p:nvSpPr>
          <p:cNvPr id="6" name="Content Placeholder 5">
            <a:extLst>
              <a:ext uri="{FF2B5EF4-FFF2-40B4-BE49-F238E27FC236}">
                <a16:creationId xmlns:a16="http://schemas.microsoft.com/office/drawing/2014/main" id="{D2EEE1BE-F403-FDD9-89C1-6F490E671F35}"/>
              </a:ext>
            </a:extLst>
          </p:cNvPr>
          <p:cNvSpPr>
            <a:spLocks noGrp="1"/>
          </p:cNvSpPr>
          <p:nvPr>
            <p:ph idx="1"/>
          </p:nvPr>
        </p:nvSpPr>
        <p:spPr>
          <a:xfrm>
            <a:off x="707924" y="1828800"/>
            <a:ext cx="10776151" cy="4119513"/>
          </a:xfrm>
        </p:spPr>
        <p:txBody>
          <a:bodyPr anchor="ctr">
            <a:normAutofit/>
          </a:bodyPr>
          <a:lstStyle/>
          <a:p>
            <a:pPr algn="just"/>
            <a:r>
              <a:rPr lang="en-US" sz="2000" dirty="0"/>
              <a:t>This project focuses on analyzing and enhancing the customer experience (CX) for a company's inbound calling team. Inbound customer support is a key touchpoint for businesses, where existing and prospective customers reach out with inquiries, requests, and issues. The goal is to provide valuable insights into call patterns, call handling efficiency, and areas for improvement to increase customer satisfaction and engagement.</a:t>
            </a:r>
          </a:p>
          <a:p>
            <a:pPr algn="just"/>
            <a:r>
              <a:rPr lang="en-US" sz="2000" dirty="0"/>
              <a:t>With a dataset covering 23 days, this project provides details on call metrics such as agent name and ID, queue time (how long a customer waits before connecting with an agent), call time, call duration, and call status (abandoned, answered, or transferred). These metrics are essential for understanding the effectiveness of the CX team and identifying ways to optimize agent allocation, reduce customer wait times, and minimize call abandonment rates.</a:t>
            </a:r>
          </a:p>
        </p:txBody>
      </p:sp>
    </p:spTree>
    <p:extLst>
      <p:ext uri="{BB962C8B-B14F-4D97-AF65-F5344CB8AC3E}">
        <p14:creationId xmlns:p14="http://schemas.microsoft.com/office/powerpoint/2010/main" val="467869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5039F-A67C-2A6F-EFA3-71A8AA7D6F72}"/>
              </a:ext>
            </a:extLst>
          </p:cNvPr>
          <p:cNvSpPr>
            <a:spLocks noGrp="1"/>
          </p:cNvSpPr>
          <p:nvPr>
            <p:ph type="title"/>
          </p:nvPr>
        </p:nvSpPr>
        <p:spPr>
          <a:xfrm>
            <a:off x="5434677" y="384529"/>
            <a:ext cx="6241651" cy="1093840"/>
          </a:xfrm>
        </p:spPr>
        <p:txBody>
          <a:bodyPr/>
          <a:lstStyle/>
          <a:p>
            <a:r>
              <a:rPr lang="en-IN" b="1" dirty="0"/>
              <a:t>assumption</a:t>
            </a:r>
          </a:p>
        </p:txBody>
      </p:sp>
      <p:pic>
        <p:nvPicPr>
          <p:cNvPr id="8" name="Content Placeholder 7">
            <a:extLst>
              <a:ext uri="{FF2B5EF4-FFF2-40B4-BE49-F238E27FC236}">
                <a16:creationId xmlns:a16="http://schemas.microsoft.com/office/drawing/2014/main" id="{9DBF2333-8773-801C-0FA2-3E029AFBFE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3853" y="5096082"/>
            <a:ext cx="7564296" cy="923827"/>
          </a:xfrm>
        </p:spPr>
      </p:pic>
      <p:sp>
        <p:nvSpPr>
          <p:cNvPr id="9" name="TextBox 8">
            <a:extLst>
              <a:ext uri="{FF2B5EF4-FFF2-40B4-BE49-F238E27FC236}">
                <a16:creationId xmlns:a16="http://schemas.microsoft.com/office/drawing/2014/main" id="{5ED18C2B-7C25-1472-1D92-5F1A732997D8}"/>
              </a:ext>
            </a:extLst>
          </p:cNvPr>
          <p:cNvSpPr txBox="1"/>
          <p:nvPr/>
        </p:nvSpPr>
        <p:spPr>
          <a:xfrm>
            <a:off x="2313851" y="4726750"/>
            <a:ext cx="6241651" cy="369332"/>
          </a:xfrm>
          <a:prstGeom prst="rect">
            <a:avLst/>
          </a:prstGeom>
          <a:noFill/>
        </p:spPr>
        <p:txBody>
          <a:bodyPr wrap="square" rtlCol="0">
            <a:spAutoFit/>
          </a:bodyPr>
          <a:lstStyle/>
          <a:p>
            <a:r>
              <a:rPr lang="en-IN" dirty="0"/>
              <a:t>Data provided for calculation of calls during night time.</a:t>
            </a:r>
          </a:p>
        </p:txBody>
      </p:sp>
      <p:graphicFrame>
        <p:nvGraphicFramePr>
          <p:cNvPr id="5" name="Table 4">
            <a:extLst>
              <a:ext uri="{FF2B5EF4-FFF2-40B4-BE49-F238E27FC236}">
                <a16:creationId xmlns:a16="http://schemas.microsoft.com/office/drawing/2014/main" id="{677FA76A-F290-15BD-E127-94C92031C3C4}"/>
              </a:ext>
            </a:extLst>
          </p:cNvPr>
          <p:cNvGraphicFramePr>
            <a:graphicFrameLocks noGrp="1"/>
          </p:cNvGraphicFramePr>
          <p:nvPr>
            <p:extLst>
              <p:ext uri="{D42A27DB-BD31-4B8C-83A1-F6EECF244321}">
                <p14:modId xmlns:p14="http://schemas.microsoft.com/office/powerpoint/2010/main" val="1180121022"/>
              </p:ext>
            </p:extLst>
          </p:nvPr>
        </p:nvGraphicFramePr>
        <p:xfrm>
          <a:off x="1404594" y="1692607"/>
          <a:ext cx="9832156" cy="2450574"/>
        </p:xfrm>
        <a:graphic>
          <a:graphicData uri="http://schemas.openxmlformats.org/drawingml/2006/table">
            <a:tbl>
              <a:tblPr>
                <a:tableStyleId>{3C2FFA5D-87B4-456A-9821-1D502468CF0F}</a:tableStyleId>
              </a:tblPr>
              <a:tblGrid>
                <a:gridCol w="4449187">
                  <a:extLst>
                    <a:ext uri="{9D8B030D-6E8A-4147-A177-3AD203B41FA5}">
                      <a16:colId xmlns:a16="http://schemas.microsoft.com/office/drawing/2014/main" val="2949960006"/>
                    </a:ext>
                  </a:extLst>
                </a:gridCol>
                <a:gridCol w="4192857">
                  <a:extLst>
                    <a:ext uri="{9D8B030D-6E8A-4147-A177-3AD203B41FA5}">
                      <a16:colId xmlns:a16="http://schemas.microsoft.com/office/drawing/2014/main" val="2697539923"/>
                    </a:ext>
                  </a:extLst>
                </a:gridCol>
                <a:gridCol w="1190112">
                  <a:extLst>
                    <a:ext uri="{9D8B030D-6E8A-4147-A177-3AD203B41FA5}">
                      <a16:colId xmlns:a16="http://schemas.microsoft.com/office/drawing/2014/main" val="1720808443"/>
                    </a:ext>
                  </a:extLst>
                </a:gridCol>
              </a:tblGrid>
              <a:tr h="350082">
                <a:tc>
                  <a:txBody>
                    <a:bodyPr/>
                    <a:lstStyle/>
                    <a:p>
                      <a:pPr algn="l" fontAlgn="b"/>
                      <a:r>
                        <a:rPr lang="en-US" sz="1800" u="none" strike="noStrike" dirty="0">
                          <a:effectLst/>
                        </a:rPr>
                        <a:t>An agent working days per week</a:t>
                      </a:r>
                      <a:endParaRPr lang="en-US"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IN" sz="1800" u="none" strike="noStrike" dirty="0">
                          <a:effectLst/>
                        </a:rPr>
                        <a:t>6</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IN" sz="1800" u="none" strike="noStrike" dirty="0">
                          <a:effectLst/>
                        </a:rPr>
                        <a:t> </a:t>
                      </a:r>
                      <a:endParaRPr lang="en-IN" sz="1800" b="1" i="0" u="none" strike="noStrike" dirty="0">
                        <a:solidFill>
                          <a:srgbClr val="FFFFFF"/>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79291374"/>
                  </a:ext>
                </a:extLst>
              </a:tr>
              <a:tr h="350082">
                <a:tc>
                  <a:txBody>
                    <a:bodyPr/>
                    <a:lstStyle/>
                    <a:p>
                      <a:pPr algn="l" fontAlgn="b"/>
                      <a:r>
                        <a:rPr lang="en-US" sz="1800" u="none" strike="noStrike">
                          <a:effectLst/>
                        </a:rPr>
                        <a:t>Agent Work Hours per Day:</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800" u="none" strike="noStrike" dirty="0">
                          <a:effectLst/>
                        </a:rPr>
                        <a:t>9 hours</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69845942"/>
                  </a:ext>
                </a:extLst>
              </a:tr>
              <a:tr h="350082">
                <a:tc>
                  <a:txBody>
                    <a:bodyPr/>
                    <a:lstStyle/>
                    <a:p>
                      <a:pPr algn="l" fontAlgn="b"/>
                      <a:r>
                        <a:rPr lang="en-IN" sz="1800" u="none" strike="noStrike" dirty="0">
                          <a:effectLst/>
                        </a:rPr>
                        <a:t>Breaks per Day:</a:t>
                      </a:r>
                      <a:endParaRPr lang="en-IN"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IN" sz="1800" u="none" strike="noStrike">
                          <a:effectLst/>
                        </a:rPr>
                        <a:t>1.5 hours</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26664854"/>
                  </a:ext>
                </a:extLst>
              </a:tr>
              <a:tr h="350082">
                <a:tc>
                  <a:txBody>
                    <a:bodyPr/>
                    <a:lstStyle/>
                    <a:p>
                      <a:pPr algn="l" fontAlgn="b"/>
                      <a:r>
                        <a:rPr lang="en-IN" sz="1800" u="none" strike="noStrike">
                          <a:effectLst/>
                        </a:rPr>
                        <a:t>Days per Month: </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1800" u="none" strike="noStrike">
                          <a:effectLst/>
                        </a:rPr>
                        <a:t>26 (taking 4 unplanned leaves into account)</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726824808"/>
                  </a:ext>
                </a:extLst>
              </a:tr>
              <a:tr h="350082">
                <a:tc>
                  <a:txBody>
                    <a:bodyPr/>
                    <a:lstStyle/>
                    <a:p>
                      <a:pPr algn="l" fontAlgn="b"/>
                      <a:r>
                        <a:rPr lang="en-US" sz="1800" u="none" strike="noStrike">
                          <a:effectLst/>
                        </a:rPr>
                        <a:t>Percentage of Time on Calls: </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800" u="none" strike="noStrike">
                          <a:effectLst/>
                        </a:rPr>
                        <a:t> </a:t>
                      </a:r>
                      <a:endParaRPr lang="en-IN"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23696967"/>
                  </a:ext>
                </a:extLst>
              </a:tr>
              <a:tr h="350082">
                <a:tc>
                  <a:txBody>
                    <a:bodyPr/>
                    <a:lstStyle/>
                    <a:p>
                      <a:pPr algn="l" fontAlgn="b"/>
                      <a:r>
                        <a:rPr lang="en-US" sz="1800" u="none" strike="noStrike">
                          <a:effectLst/>
                        </a:rPr>
                        <a:t>actual call time per day(hours/seconds):</a:t>
                      </a:r>
                      <a:endParaRPr lang="en-US"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800" u="none" strike="noStrike">
                          <a:effectLst/>
                        </a:rPr>
                        <a:t>4.5</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800" u="none" strike="noStrike">
                          <a:effectLst/>
                        </a:rPr>
                        <a:t>16200</a:t>
                      </a:r>
                      <a:endParaRPr lang="en-IN" sz="18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82932797"/>
                  </a:ext>
                </a:extLst>
              </a:tr>
              <a:tr h="350082">
                <a:tc>
                  <a:txBody>
                    <a:bodyPr/>
                    <a:lstStyle/>
                    <a:p>
                      <a:pPr algn="l" fontAlgn="b"/>
                      <a:r>
                        <a:rPr lang="en-US" sz="1800" u="none" strike="noStrike" dirty="0">
                          <a:effectLst/>
                        </a:rPr>
                        <a:t>total call time per month(seconds per month):</a:t>
                      </a:r>
                      <a:endParaRPr lang="en-US" sz="18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IN" sz="1800" u="none" strike="noStrike">
                          <a:effectLst/>
                        </a:rPr>
                        <a:t>421200</a:t>
                      </a:r>
                      <a:endParaRPr lang="en-IN" sz="18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IN" sz="1800" u="none" strike="noStrike" dirty="0">
                          <a:effectLst/>
                        </a:rPr>
                        <a:t> </a:t>
                      </a:r>
                      <a:endParaRPr lang="en-IN" sz="18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62159065"/>
                  </a:ext>
                </a:extLst>
              </a:tr>
            </a:tbl>
          </a:graphicData>
        </a:graphic>
      </p:graphicFrame>
    </p:spTree>
    <p:extLst>
      <p:ext uri="{BB962C8B-B14F-4D97-AF65-F5344CB8AC3E}">
        <p14:creationId xmlns:p14="http://schemas.microsoft.com/office/powerpoint/2010/main" val="767686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title"/>
          </p:nvPr>
        </p:nvSpPr>
        <p:spPr>
          <a:xfrm>
            <a:off x="5242424" y="242103"/>
            <a:ext cx="6241651" cy="1710354"/>
          </a:xfrm>
          <a:noFill/>
        </p:spPr>
        <p:txBody>
          <a:bodyPr>
            <a:noAutofit/>
          </a:bodyPr>
          <a:lstStyle/>
          <a:p>
            <a:r>
              <a:rPr lang="en-US" b="1" dirty="0"/>
              <a:t>Project approach</a:t>
            </a:r>
          </a:p>
        </p:txBody>
      </p:sp>
      <p:sp>
        <p:nvSpPr>
          <p:cNvPr id="15" name="Subtitle 14">
            <a:extLst>
              <a:ext uri="{FF2B5EF4-FFF2-40B4-BE49-F238E27FC236}">
                <a16:creationId xmlns:a16="http://schemas.microsoft.com/office/drawing/2014/main" id="{9C373000-EEA1-D16F-189A-338FFDA2E708}"/>
              </a:ext>
            </a:extLst>
          </p:cNvPr>
          <p:cNvSpPr>
            <a:spLocks noGrp="1"/>
          </p:cNvSpPr>
          <p:nvPr>
            <p:ph idx="1"/>
          </p:nvPr>
        </p:nvSpPr>
        <p:spPr>
          <a:xfrm>
            <a:off x="641023" y="1819373"/>
            <a:ext cx="10843052" cy="3941347"/>
          </a:xfrm>
        </p:spPr>
        <p:txBody>
          <a:bodyPr anchor="ctr">
            <a:normAutofit/>
          </a:bodyPr>
          <a:lstStyle/>
          <a:p>
            <a:pPr algn="just"/>
            <a:r>
              <a:rPr lang="en-US" sz="2400" dirty="0"/>
              <a:t>Understanding and Cleaning the data</a:t>
            </a:r>
          </a:p>
          <a:p>
            <a:pPr marL="0" indent="0" algn="just">
              <a:buNone/>
            </a:pPr>
            <a:r>
              <a:rPr lang="en-US" sz="2400" dirty="0"/>
              <a:t>	</a:t>
            </a:r>
            <a:r>
              <a:rPr lang="en-US" sz="2000" dirty="0"/>
              <a:t>Reaching a complete understanding of the data, assessing its impact on the target variable, 	and effectively addressing data irregularities are crucial steps 	for improved analysis.</a:t>
            </a:r>
          </a:p>
          <a:p>
            <a:pPr algn="just"/>
            <a:r>
              <a:rPr lang="en-US" sz="2400" dirty="0"/>
              <a:t>Analysis and Visualization</a:t>
            </a:r>
          </a:p>
          <a:p>
            <a:pPr marL="0" indent="0" algn="just">
              <a:buNone/>
            </a:pPr>
            <a:r>
              <a:rPr lang="en-US" sz="2400" dirty="0"/>
              <a:t>	</a:t>
            </a:r>
            <a:r>
              <a:rPr lang="en-US" sz="2000" dirty="0"/>
              <a:t> Conducting data analysis to extract insights and key findings, followed by visualizing the 	results to enhance clarity and accessibility.</a:t>
            </a:r>
            <a:endParaRPr lang="en-US" sz="2400" dirty="0"/>
          </a:p>
        </p:txBody>
      </p:sp>
    </p:spTree>
    <p:extLst>
      <p:ext uri="{BB962C8B-B14F-4D97-AF65-F5344CB8AC3E}">
        <p14:creationId xmlns:p14="http://schemas.microsoft.com/office/powerpoint/2010/main" val="3930438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42425" y="466344"/>
            <a:ext cx="6241651" cy="1710354"/>
          </a:xfrm>
          <a:noFill/>
        </p:spPr>
        <p:txBody>
          <a:bodyPr anchor="ctr"/>
          <a:lstStyle/>
          <a:p>
            <a:r>
              <a:rPr lang="en-US" b="1" dirty="0"/>
              <a:t>Tech-stack used</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65608" y="2286000"/>
            <a:ext cx="6749592" cy="3474720"/>
          </a:xfrm>
          <a:noFill/>
        </p:spPr>
        <p:txBody>
          <a:bodyPr vert="horz" lIns="91440" tIns="45720" rIns="91440" bIns="45720" rtlCol="0" anchor="t">
            <a:normAutofit/>
          </a:bodyPr>
          <a:lstStyle/>
          <a:p>
            <a:pPr marL="0" indent="0">
              <a:lnSpc>
                <a:spcPct val="150000"/>
              </a:lnSpc>
              <a:buNone/>
            </a:pPr>
            <a:r>
              <a:rPr lang="en-US" sz="2800" dirty="0"/>
              <a:t>Tech-stack used for this project is Microsoft Excel for analyzing and visualizing the dataset and Microsoft PowerPoint to present the dataset.</a:t>
            </a:r>
          </a:p>
        </p:txBody>
      </p:sp>
    </p:spTree>
    <p:extLst>
      <p:ext uri="{BB962C8B-B14F-4D97-AF65-F5344CB8AC3E}">
        <p14:creationId xmlns:p14="http://schemas.microsoft.com/office/powerpoint/2010/main" val="3666674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838200" y="365760"/>
            <a:ext cx="10515600" cy="1325880"/>
          </a:xfrm>
          <a:noFill/>
        </p:spPr>
        <p:txBody>
          <a:bodyPr anchor="ctr"/>
          <a:lstStyle/>
          <a:p>
            <a:r>
              <a:rPr lang="en-US" b="1" dirty="0"/>
              <a:t>objectives</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quarter" idx="14"/>
          </p:nvPr>
        </p:nvSpPr>
        <p:spPr>
          <a:xfrm>
            <a:off x="838200" y="2024780"/>
            <a:ext cx="10515601" cy="4137189"/>
          </a:xfrm>
          <a:noFill/>
        </p:spPr>
        <p:txBody>
          <a:bodyPr>
            <a:normAutofit/>
          </a:bodyPr>
          <a:lstStyle/>
          <a:p>
            <a:r>
              <a:rPr lang="en-US" sz="2400" dirty="0"/>
              <a:t>Task 1:- What is the average duration of calls for each time bucket?</a:t>
            </a:r>
          </a:p>
          <a:p>
            <a:pPr>
              <a:lnSpc>
                <a:spcPct val="150000"/>
              </a:lnSpc>
            </a:pPr>
            <a:r>
              <a:rPr lang="en-US" sz="2400" dirty="0"/>
              <a:t>Task 2:- Can you create a chart or graph that shows the number of calls received in each time bucket?</a:t>
            </a:r>
          </a:p>
          <a:p>
            <a:pPr>
              <a:lnSpc>
                <a:spcPct val="150000"/>
              </a:lnSpc>
            </a:pPr>
            <a:r>
              <a:rPr lang="en-US" sz="2400" dirty="0"/>
              <a:t>Task 3:-What is the minimum number of agents required in each time bucket to reduce the abandon rate to 10%?</a:t>
            </a:r>
          </a:p>
          <a:p>
            <a:pPr>
              <a:lnSpc>
                <a:spcPct val="150000"/>
              </a:lnSpc>
            </a:pPr>
            <a:r>
              <a:rPr lang="en-US" sz="2400" dirty="0"/>
              <a:t>Task 4:- Propose a manpower plan for each time bucket throughout the day, keeping the maximum abandon rate at 10%.</a:t>
            </a:r>
          </a:p>
        </p:txBody>
      </p:sp>
      <p:sp>
        <p:nvSpPr>
          <p:cNvPr id="5" name="Rectangle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2243159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527143" y="159030"/>
            <a:ext cx="9956934" cy="938250"/>
          </a:xfrm>
          <a:noFill/>
        </p:spPr>
        <p:txBody>
          <a:bodyPr anchor="ctr"/>
          <a:lstStyle/>
          <a:p>
            <a:pPr algn="ctr"/>
            <a:r>
              <a:rPr lang="en-IN" b="1" dirty="0"/>
              <a:t>Task 1 Average Call Duration</a:t>
            </a:r>
            <a:endParaRPr lang="en-US" dirty="0"/>
          </a:p>
        </p:txBody>
      </p:sp>
      <p:sp>
        <p:nvSpPr>
          <p:cNvPr id="4" name="Content Placeholder 3">
            <a:extLst>
              <a:ext uri="{FF2B5EF4-FFF2-40B4-BE49-F238E27FC236}">
                <a16:creationId xmlns:a16="http://schemas.microsoft.com/office/drawing/2014/main" id="{83302BFD-960F-CBB3-E984-CDC12813A10C}"/>
              </a:ext>
            </a:extLst>
          </p:cNvPr>
          <p:cNvSpPr>
            <a:spLocks noGrp="1"/>
          </p:cNvSpPr>
          <p:nvPr>
            <p:ph idx="1"/>
          </p:nvPr>
        </p:nvSpPr>
        <p:spPr>
          <a:xfrm>
            <a:off x="6909847" y="1663960"/>
            <a:ext cx="4894740" cy="4073322"/>
          </a:xfrm>
          <a:noFill/>
        </p:spPr>
        <p:txBody>
          <a:bodyPr anchor="ctr">
            <a:normAutofit/>
          </a:bodyPr>
          <a:lstStyle/>
          <a:p>
            <a:pPr algn="just">
              <a:lnSpc>
                <a:spcPct val="150000"/>
              </a:lnSpc>
            </a:pPr>
            <a:r>
              <a:rPr lang="en-US" dirty="0"/>
              <a:t>Task:- Determine the average duration of all incoming calls received by agents. This should be calculated for each time bucket.</a:t>
            </a:r>
          </a:p>
          <a:p>
            <a:pPr algn="just">
              <a:lnSpc>
                <a:spcPct val="150000"/>
              </a:lnSpc>
            </a:pPr>
            <a:r>
              <a:rPr lang="en-US" dirty="0"/>
              <a:t>The highest average call duration occurs between 6 PM and 9 PM, while the lowest is observed between 12 PM and 3 PM.</a:t>
            </a:r>
          </a:p>
        </p:txBody>
      </p:sp>
      <p:sp>
        <p:nvSpPr>
          <p:cNvPr id="5" name="Rectangle 4">
            <a:extLst>
              <a:ext uri="{FF2B5EF4-FFF2-40B4-BE49-F238E27FC236}">
                <a16:creationId xmlns:a16="http://schemas.microsoft.com/office/drawing/2014/main" id="{C80227B8-A24C-8C29-034A-D7700B88768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aphicFrame>
        <p:nvGraphicFramePr>
          <p:cNvPr id="8" name="Picture Placeholder 7">
            <a:extLst>
              <a:ext uri="{FF2B5EF4-FFF2-40B4-BE49-F238E27FC236}">
                <a16:creationId xmlns:a16="http://schemas.microsoft.com/office/drawing/2014/main" id="{6068DFF5-D781-070C-DE1D-6BC92CB16CB2}"/>
              </a:ext>
            </a:extLst>
          </p:cNvPr>
          <p:cNvGraphicFramePr>
            <a:graphicFrameLocks noGrp="1"/>
          </p:cNvGraphicFramePr>
          <p:nvPr>
            <p:ph type="pic" sz="quarter" idx="10"/>
            <p:extLst>
              <p:ext uri="{D42A27DB-BD31-4B8C-83A1-F6EECF244321}">
                <p14:modId xmlns:p14="http://schemas.microsoft.com/office/powerpoint/2010/main" val="1131919065"/>
              </p:ext>
            </p:extLst>
          </p:nvPr>
        </p:nvGraphicFramePr>
        <p:xfrm>
          <a:off x="150829" y="1206631"/>
          <a:ext cx="6332584" cy="477998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29609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272592" y="268947"/>
            <a:ext cx="4601066" cy="1581912"/>
          </a:xfrm>
          <a:noFill/>
        </p:spPr>
        <p:txBody>
          <a:bodyPr anchor="b"/>
          <a:lstStyle/>
          <a:p>
            <a:pPr algn="ctr"/>
            <a:r>
              <a:rPr lang="en-US" b="1" dirty="0"/>
              <a:t>Task 2 </a:t>
            </a:r>
            <a:r>
              <a:rPr lang="en-IN" b="1" dirty="0"/>
              <a:t>Call Volume Analysis</a:t>
            </a:r>
            <a:endParaRPr lang="en-US" dirty="0"/>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quarter" idx="14"/>
          </p:nvPr>
        </p:nvSpPr>
        <p:spPr>
          <a:xfrm>
            <a:off x="272592" y="2280061"/>
            <a:ext cx="4921577" cy="3904906"/>
          </a:xfrm>
          <a:noFill/>
        </p:spPr>
        <p:txBody>
          <a:bodyPr vert="horz" lIns="91440" tIns="45720" rIns="91440" bIns="45720" rtlCol="0" anchor="t">
            <a:normAutofit/>
          </a:bodyPr>
          <a:lstStyle/>
          <a:p>
            <a:pPr marL="285750" indent="-285750">
              <a:buFont typeface="Arial" panose="020B0604020202020204" pitchFamily="34" charset="0"/>
              <a:buChar char="•"/>
            </a:pPr>
            <a:r>
              <a:rPr lang="en-US" dirty="0"/>
              <a:t>Task:- Visualize the total number of calls received. This should be represented as a graph or chart showing the number of calls against time. Time should be represented in buckets (e.g., 1-2, 2-3, etc.).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Insights:- The highest total number of calls is received between 11 AM and 12 PM, after which the total call volume steadily decreases.</a:t>
            </a:r>
          </a:p>
        </p:txBody>
      </p:sp>
      <p:graphicFrame>
        <p:nvGraphicFramePr>
          <p:cNvPr id="6" name="Picture Placeholder 5">
            <a:extLst>
              <a:ext uri="{FF2B5EF4-FFF2-40B4-BE49-F238E27FC236}">
                <a16:creationId xmlns:a16="http://schemas.microsoft.com/office/drawing/2014/main" id="{C503D5EA-9ADF-D463-3C8B-9AC454CA01D1}"/>
              </a:ext>
            </a:extLst>
          </p:cNvPr>
          <p:cNvGraphicFramePr>
            <a:graphicFrameLocks noGrp="1"/>
          </p:cNvGraphicFramePr>
          <p:nvPr>
            <p:ph type="pic" sz="quarter" idx="10"/>
            <p:extLst>
              <p:ext uri="{D42A27DB-BD31-4B8C-83A1-F6EECF244321}">
                <p14:modId xmlns:p14="http://schemas.microsoft.com/office/powerpoint/2010/main" val="4122064842"/>
              </p:ext>
            </p:extLst>
          </p:nvPr>
        </p:nvGraphicFramePr>
        <p:xfrm>
          <a:off x="5363851" y="197964"/>
          <a:ext cx="6702457" cy="598700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49597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4958499" y="149008"/>
            <a:ext cx="5952241" cy="878578"/>
          </a:xfrm>
          <a:noFill/>
        </p:spPr>
        <p:txBody>
          <a:bodyPr anchor="ctr">
            <a:noAutofit/>
          </a:bodyPr>
          <a:lstStyle/>
          <a:p>
            <a:r>
              <a:rPr lang="en-US" b="1" dirty="0"/>
              <a:t>Task 3 </a:t>
            </a:r>
            <a:r>
              <a:rPr lang="en-IN" b="1" dirty="0"/>
              <a:t>Manpower Planning</a:t>
            </a:r>
            <a:endParaRPr lang="en-US" b="1" dirty="0"/>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sz="quarter" idx="15"/>
          </p:nvPr>
        </p:nvSpPr>
        <p:spPr>
          <a:xfrm>
            <a:off x="144541" y="1027586"/>
            <a:ext cx="3714160" cy="5459974"/>
          </a:xfrm>
          <a:noFill/>
        </p:spPr>
        <p:txBody>
          <a:bodyPr vert="horz" lIns="91440" tIns="45720" rIns="91440" bIns="45720" rtlCol="0" anchor="ctr">
            <a:normAutofit/>
          </a:bodyPr>
          <a:lstStyle/>
          <a:p>
            <a:pPr marL="285750" indent="-285750">
              <a:buFont typeface="Arial" panose="020B0604020202020204" pitchFamily="34" charset="0"/>
              <a:buChar char="•"/>
            </a:pPr>
            <a:r>
              <a:rPr lang="en-US" dirty="0"/>
              <a:t>Task:- The current rate of abandoned calls is approximately 30%. Propose a plan for manpower allocation during each time bucket (from 9 am to 9 pm) to reduce the abandon rate to 10%. In other words, you need to calculate the minimum number of agents required in each time bucket to ensure that at least 90 out of 100 calls are answered.</a:t>
            </a:r>
          </a:p>
          <a:p>
            <a:pPr marL="285750" indent="-285750">
              <a:buFont typeface="Arial" panose="020B0604020202020204" pitchFamily="34" charset="0"/>
              <a:buChar char="•"/>
            </a:pPr>
            <a:r>
              <a:rPr lang="en-US" dirty="0"/>
              <a:t>Insights:- An additional 12 agents are needed to achieve a 10% abandonment rate.</a:t>
            </a:r>
          </a:p>
        </p:txBody>
      </p:sp>
      <p:graphicFrame>
        <p:nvGraphicFramePr>
          <p:cNvPr id="5" name="Chart 4">
            <a:extLst>
              <a:ext uri="{FF2B5EF4-FFF2-40B4-BE49-F238E27FC236}">
                <a16:creationId xmlns:a16="http://schemas.microsoft.com/office/drawing/2014/main" id="{009FB2E4-A2E9-3BB7-A85A-A8D33CBBD3E7}"/>
              </a:ext>
            </a:extLst>
          </p:cNvPr>
          <p:cNvGraphicFramePr>
            <a:graphicFrameLocks/>
          </p:cNvGraphicFramePr>
          <p:nvPr>
            <p:extLst>
              <p:ext uri="{D42A27DB-BD31-4B8C-83A1-F6EECF244321}">
                <p14:modId xmlns:p14="http://schemas.microsoft.com/office/powerpoint/2010/main" val="473162837"/>
              </p:ext>
            </p:extLst>
          </p:nvPr>
        </p:nvGraphicFramePr>
        <p:xfrm>
          <a:off x="3858701" y="1164175"/>
          <a:ext cx="8188758" cy="54599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59977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DA972-BD3A-3DCD-81F1-7AF161F58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0FE33-53A6-E75A-9BA0-8B7B1BFDD51E}"/>
              </a:ext>
            </a:extLst>
          </p:cNvPr>
          <p:cNvSpPr>
            <a:spLocks noGrp="1"/>
          </p:cNvSpPr>
          <p:nvPr>
            <p:ph type="title"/>
          </p:nvPr>
        </p:nvSpPr>
        <p:spPr>
          <a:noFill/>
        </p:spPr>
        <p:txBody>
          <a:bodyPr anchor="ctr"/>
          <a:lstStyle/>
          <a:p>
            <a:r>
              <a:rPr lang="en-US" b="1" dirty="0"/>
              <a:t>Task 4 </a:t>
            </a:r>
            <a:r>
              <a:rPr lang="en-IN" b="1" dirty="0"/>
              <a:t>Night Shift Manpower Planning</a:t>
            </a:r>
            <a:endParaRPr lang="en-US" b="1" dirty="0"/>
          </a:p>
        </p:txBody>
      </p:sp>
      <p:sp>
        <p:nvSpPr>
          <p:cNvPr id="6" name="Content Placeholder 5">
            <a:extLst>
              <a:ext uri="{FF2B5EF4-FFF2-40B4-BE49-F238E27FC236}">
                <a16:creationId xmlns:a16="http://schemas.microsoft.com/office/drawing/2014/main" id="{35BD3C54-BDF5-2AE3-F55E-5BCB400D4E04}"/>
              </a:ext>
            </a:extLst>
          </p:cNvPr>
          <p:cNvSpPr>
            <a:spLocks noGrp="1"/>
          </p:cNvSpPr>
          <p:nvPr>
            <p:ph sz="quarter" idx="15"/>
          </p:nvPr>
        </p:nvSpPr>
        <p:spPr>
          <a:xfrm>
            <a:off x="235670" y="1691323"/>
            <a:ext cx="5043340" cy="4800917"/>
          </a:xfrm>
        </p:spPr>
        <p:txBody>
          <a:bodyPr/>
          <a:lstStyle/>
          <a:p>
            <a:pPr marL="285750" indent="-285750">
              <a:buFont typeface="Arial" panose="020B0604020202020204" pitchFamily="34" charset="0"/>
              <a:buChar char="•"/>
            </a:pPr>
            <a:r>
              <a:rPr lang="en-IN" dirty="0"/>
              <a:t>Task:- </a:t>
            </a:r>
            <a:r>
              <a:rPr lang="en-US" dirty="0"/>
              <a:t>Customers also call ABC Insurance Company at night but don't get an answer because there are no agents available. This creates a poor customer experience. Assume that for every 100 calls that customers make between 9 am and 9 pm, they also make 30 calls at night between 9 pm and 9 am.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Insights:- A team of 17 night agents is required to handle customer calls during nighttime hours.</a:t>
            </a:r>
            <a:endParaRPr lang="en-IN" dirty="0"/>
          </a:p>
        </p:txBody>
      </p:sp>
      <p:graphicFrame>
        <p:nvGraphicFramePr>
          <p:cNvPr id="5" name="Table Placeholder 4">
            <a:extLst>
              <a:ext uri="{FF2B5EF4-FFF2-40B4-BE49-F238E27FC236}">
                <a16:creationId xmlns:a16="http://schemas.microsoft.com/office/drawing/2014/main" id="{C771E4AF-8445-2BD3-EAA6-384091D7FFE1}"/>
              </a:ext>
            </a:extLst>
          </p:cNvPr>
          <p:cNvGraphicFramePr>
            <a:graphicFrameLocks noGrp="1"/>
          </p:cNvGraphicFramePr>
          <p:nvPr>
            <p:ph type="tbl" sz="quarter" idx="13"/>
            <p:extLst>
              <p:ext uri="{D42A27DB-BD31-4B8C-83A1-F6EECF244321}">
                <p14:modId xmlns:p14="http://schemas.microsoft.com/office/powerpoint/2010/main" val="3305247650"/>
              </p:ext>
            </p:extLst>
          </p:nvPr>
        </p:nvGraphicFramePr>
        <p:xfrm>
          <a:off x="5476972" y="2106613"/>
          <a:ext cx="6551629" cy="4484970"/>
        </p:xfrm>
        <a:graphic>
          <a:graphicData uri="http://schemas.openxmlformats.org/drawingml/2006/table">
            <a:tbl>
              <a:tblPr>
                <a:tableStyleId>{7E9639D4-E3E2-4D34-9284-5A2195B3D0D7}</a:tableStyleId>
              </a:tblPr>
              <a:tblGrid>
                <a:gridCol w="1413773">
                  <a:extLst>
                    <a:ext uri="{9D8B030D-6E8A-4147-A177-3AD203B41FA5}">
                      <a16:colId xmlns:a16="http://schemas.microsoft.com/office/drawing/2014/main" val="1753494108"/>
                    </a:ext>
                  </a:extLst>
                </a:gridCol>
                <a:gridCol w="1844801">
                  <a:extLst>
                    <a:ext uri="{9D8B030D-6E8A-4147-A177-3AD203B41FA5}">
                      <a16:colId xmlns:a16="http://schemas.microsoft.com/office/drawing/2014/main" val="3526695930"/>
                    </a:ext>
                  </a:extLst>
                </a:gridCol>
                <a:gridCol w="1499978">
                  <a:extLst>
                    <a:ext uri="{9D8B030D-6E8A-4147-A177-3AD203B41FA5}">
                      <a16:colId xmlns:a16="http://schemas.microsoft.com/office/drawing/2014/main" val="519877995"/>
                    </a:ext>
                  </a:extLst>
                </a:gridCol>
                <a:gridCol w="1793077">
                  <a:extLst>
                    <a:ext uri="{9D8B030D-6E8A-4147-A177-3AD203B41FA5}">
                      <a16:colId xmlns:a16="http://schemas.microsoft.com/office/drawing/2014/main" val="3390443617"/>
                    </a:ext>
                  </a:extLst>
                </a:gridCol>
              </a:tblGrid>
              <a:tr h="320355">
                <a:tc>
                  <a:txBody>
                    <a:bodyPr/>
                    <a:lstStyle/>
                    <a:p>
                      <a:pPr algn="l" fontAlgn="b"/>
                      <a:r>
                        <a:rPr lang="en-IN" sz="1600" u="none" strike="noStrike" dirty="0">
                          <a:effectLst/>
                        </a:rPr>
                        <a:t>Time Buckets</a:t>
                      </a:r>
                      <a:endParaRPr lang="en-IN" sz="1600" b="1" i="0" u="none" strike="noStrike" dirty="0">
                        <a:solidFill>
                          <a:srgbClr val="FFFFFF"/>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l" fontAlgn="b"/>
                      <a:r>
                        <a:rPr lang="en-IN" sz="1600" u="none" strike="noStrike" dirty="0">
                          <a:effectLst/>
                        </a:rPr>
                        <a:t>Assumed Call Count</a:t>
                      </a:r>
                      <a:endParaRPr lang="en-IN" sz="1600" b="1" i="0" u="none" strike="noStrike" dirty="0">
                        <a:solidFill>
                          <a:srgbClr val="FFFFFF"/>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l" fontAlgn="b"/>
                      <a:r>
                        <a:rPr lang="en-IN" sz="1600" u="none" strike="noStrike" dirty="0">
                          <a:effectLst/>
                        </a:rPr>
                        <a:t>Total Call Count</a:t>
                      </a:r>
                      <a:endParaRPr lang="en-IN" sz="1600" b="1" i="0" u="none" strike="noStrike" dirty="0">
                        <a:solidFill>
                          <a:srgbClr val="FFFFFF"/>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l" fontAlgn="b"/>
                      <a:r>
                        <a:rPr lang="en-IN" sz="1600" u="none" strike="noStrike">
                          <a:effectLst/>
                        </a:rPr>
                        <a:t>Agent Required</a:t>
                      </a:r>
                      <a:endParaRPr lang="en-IN" sz="1600" b="1" i="0" u="none" strike="noStrike">
                        <a:solidFill>
                          <a:srgbClr val="FFFFFF"/>
                        </a:solidFill>
                        <a:effectLst/>
                        <a:latin typeface="Calibri" panose="020F0502020204030204" pitchFamily="34" charset="0"/>
                      </a:endParaRPr>
                    </a:p>
                  </a:txBody>
                  <a:tcPr marL="7620" marR="7620" marT="7620" marB="0" anchor="b">
                    <a:solidFill>
                      <a:schemeClr val="tx2">
                        <a:lumMod val="20000"/>
                        <a:lumOff val="80000"/>
                      </a:schemeClr>
                    </a:solidFill>
                  </a:tcPr>
                </a:tc>
                <a:extLst>
                  <a:ext uri="{0D108BD9-81ED-4DB2-BD59-A6C34878D82A}">
                    <a16:rowId xmlns:a16="http://schemas.microsoft.com/office/drawing/2014/main" val="1328904464"/>
                  </a:ext>
                </a:extLst>
              </a:tr>
              <a:tr h="320355">
                <a:tc>
                  <a:txBody>
                    <a:bodyPr/>
                    <a:lstStyle/>
                    <a:p>
                      <a:pPr algn="l" fontAlgn="b"/>
                      <a:r>
                        <a:rPr lang="en-IN" sz="1600" u="none" strike="noStrike" dirty="0">
                          <a:effectLst/>
                        </a:rPr>
                        <a:t>09pm-10pm</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u="none" strike="noStrike" dirty="0">
                          <a:effectLst/>
                        </a:rPr>
                        <a:t>3</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u="none" strike="noStrike" dirty="0">
                          <a:effectLst/>
                        </a:rPr>
                        <a:t>154</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b="0" i="0" u="none" strike="noStrike" dirty="0">
                          <a:solidFill>
                            <a:srgbClr val="000000"/>
                          </a:solidFill>
                          <a:effectLst/>
                          <a:latin typeface="Calibri" panose="020F0502020204030204" pitchFamily="34" charset="0"/>
                        </a:rPr>
                        <a:t>2</a:t>
                      </a:r>
                    </a:p>
                  </a:txBody>
                  <a:tcPr marL="7620" marR="7620" marT="7620" marB="0" anchor="b">
                    <a:noFill/>
                  </a:tcPr>
                </a:tc>
                <a:extLst>
                  <a:ext uri="{0D108BD9-81ED-4DB2-BD59-A6C34878D82A}">
                    <a16:rowId xmlns:a16="http://schemas.microsoft.com/office/drawing/2014/main" val="94755036"/>
                  </a:ext>
                </a:extLst>
              </a:tr>
              <a:tr h="320355">
                <a:tc>
                  <a:txBody>
                    <a:bodyPr/>
                    <a:lstStyle/>
                    <a:p>
                      <a:pPr algn="l" fontAlgn="b"/>
                      <a:r>
                        <a:rPr lang="en-IN" sz="1600" u="none" strike="noStrike">
                          <a:effectLst/>
                        </a:rPr>
                        <a:t>10pm-11pm</a:t>
                      </a:r>
                      <a:endParaRPr lang="en-IN" sz="1600" b="0" i="0" u="none" strike="noStrike">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u="none" strike="noStrike" dirty="0">
                          <a:effectLst/>
                        </a:rPr>
                        <a:t>3</a:t>
                      </a:r>
                      <a:endParaRPr lang="en-IN" sz="1600" b="0" i="0" u="none" strike="noStrike" dirty="0">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u="none" strike="noStrike" dirty="0">
                          <a:effectLst/>
                        </a:rPr>
                        <a:t>154</a:t>
                      </a:r>
                      <a:endParaRPr lang="en-IN" sz="1600" b="0" i="0" u="none" strike="noStrike" dirty="0">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b="0" i="0" u="none" strike="noStrike" dirty="0">
                          <a:solidFill>
                            <a:srgbClr val="000000"/>
                          </a:solidFill>
                          <a:effectLst/>
                          <a:latin typeface="Calibri" panose="020F0502020204030204" pitchFamily="34" charset="0"/>
                        </a:rPr>
                        <a:t>2</a:t>
                      </a:r>
                    </a:p>
                  </a:txBody>
                  <a:tcPr marL="7620" marR="7620" marT="7620" marB="0" anchor="b">
                    <a:solidFill>
                      <a:schemeClr val="tx2">
                        <a:lumMod val="20000"/>
                        <a:lumOff val="80000"/>
                      </a:schemeClr>
                    </a:solidFill>
                  </a:tcPr>
                </a:tc>
                <a:extLst>
                  <a:ext uri="{0D108BD9-81ED-4DB2-BD59-A6C34878D82A}">
                    <a16:rowId xmlns:a16="http://schemas.microsoft.com/office/drawing/2014/main" val="950583484"/>
                  </a:ext>
                </a:extLst>
              </a:tr>
              <a:tr h="320355">
                <a:tc>
                  <a:txBody>
                    <a:bodyPr/>
                    <a:lstStyle/>
                    <a:p>
                      <a:pPr algn="l" fontAlgn="b"/>
                      <a:r>
                        <a:rPr lang="en-IN" sz="1600" u="none" strike="noStrike" dirty="0">
                          <a:effectLst/>
                        </a:rPr>
                        <a:t>11pm-12am</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u="none" strike="noStrike" dirty="0">
                          <a:effectLst/>
                        </a:rPr>
                        <a:t>2</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u="none" strike="noStrike" dirty="0">
                          <a:effectLst/>
                        </a:rPr>
                        <a:t>103</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b="0" i="0" u="none" strike="noStrike" dirty="0">
                          <a:solidFill>
                            <a:srgbClr val="000000"/>
                          </a:solidFill>
                          <a:effectLst/>
                          <a:latin typeface="Calibri" panose="020F0502020204030204" pitchFamily="34" charset="0"/>
                        </a:rPr>
                        <a:t>1</a:t>
                      </a:r>
                    </a:p>
                  </a:txBody>
                  <a:tcPr marL="7620" marR="7620" marT="7620" marB="0" anchor="b">
                    <a:noFill/>
                  </a:tcPr>
                </a:tc>
                <a:extLst>
                  <a:ext uri="{0D108BD9-81ED-4DB2-BD59-A6C34878D82A}">
                    <a16:rowId xmlns:a16="http://schemas.microsoft.com/office/drawing/2014/main" val="1436878562"/>
                  </a:ext>
                </a:extLst>
              </a:tr>
              <a:tr h="320355">
                <a:tc>
                  <a:txBody>
                    <a:bodyPr/>
                    <a:lstStyle/>
                    <a:p>
                      <a:pPr algn="l" fontAlgn="b"/>
                      <a:r>
                        <a:rPr lang="en-IN" sz="1600" u="none" strike="noStrike">
                          <a:effectLst/>
                        </a:rPr>
                        <a:t>12am-01am</a:t>
                      </a:r>
                      <a:endParaRPr lang="en-IN" sz="1600" b="0" i="0" u="none" strike="noStrike">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u="none" strike="noStrike">
                          <a:effectLst/>
                        </a:rPr>
                        <a:t>2</a:t>
                      </a:r>
                      <a:endParaRPr lang="en-IN" sz="1600" b="0" i="0" u="none" strike="noStrike">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u="none" strike="noStrike" dirty="0">
                          <a:effectLst/>
                        </a:rPr>
                        <a:t>103</a:t>
                      </a:r>
                      <a:endParaRPr lang="en-IN" sz="1600" b="0" i="0" u="none" strike="noStrike" dirty="0">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b="0" i="0" u="none" strike="noStrike">
                          <a:solidFill>
                            <a:srgbClr val="000000"/>
                          </a:solidFill>
                          <a:effectLst/>
                          <a:latin typeface="Calibri" panose="020F0502020204030204" pitchFamily="34" charset="0"/>
                        </a:rPr>
                        <a:t>1</a:t>
                      </a:r>
                    </a:p>
                  </a:txBody>
                  <a:tcPr marL="7620" marR="7620" marT="7620" marB="0" anchor="b">
                    <a:solidFill>
                      <a:schemeClr val="tx2">
                        <a:lumMod val="20000"/>
                        <a:lumOff val="80000"/>
                      </a:schemeClr>
                    </a:solidFill>
                  </a:tcPr>
                </a:tc>
                <a:extLst>
                  <a:ext uri="{0D108BD9-81ED-4DB2-BD59-A6C34878D82A}">
                    <a16:rowId xmlns:a16="http://schemas.microsoft.com/office/drawing/2014/main" val="3814830619"/>
                  </a:ext>
                </a:extLst>
              </a:tr>
              <a:tr h="320355">
                <a:tc>
                  <a:txBody>
                    <a:bodyPr/>
                    <a:lstStyle/>
                    <a:p>
                      <a:pPr algn="l" fontAlgn="b"/>
                      <a:r>
                        <a:rPr lang="en-IN" sz="1600" u="none" strike="noStrike" dirty="0">
                          <a:effectLst/>
                        </a:rPr>
                        <a:t>01am-02am</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u="none" strike="noStrike" dirty="0">
                          <a:effectLst/>
                        </a:rPr>
                        <a:t>1</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u="none" strike="noStrike" dirty="0">
                          <a:effectLst/>
                        </a:rPr>
                        <a:t>51</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b="0" i="0" u="none" strike="noStrike" dirty="0">
                          <a:solidFill>
                            <a:srgbClr val="000000"/>
                          </a:solidFill>
                          <a:effectLst/>
                          <a:latin typeface="Calibri" panose="020F0502020204030204" pitchFamily="34" charset="0"/>
                        </a:rPr>
                        <a:t>1</a:t>
                      </a:r>
                    </a:p>
                  </a:txBody>
                  <a:tcPr marL="7620" marR="7620" marT="7620" marB="0" anchor="b">
                    <a:noFill/>
                  </a:tcPr>
                </a:tc>
                <a:extLst>
                  <a:ext uri="{0D108BD9-81ED-4DB2-BD59-A6C34878D82A}">
                    <a16:rowId xmlns:a16="http://schemas.microsoft.com/office/drawing/2014/main" val="2550853547"/>
                  </a:ext>
                </a:extLst>
              </a:tr>
              <a:tr h="320355">
                <a:tc>
                  <a:txBody>
                    <a:bodyPr/>
                    <a:lstStyle/>
                    <a:p>
                      <a:pPr algn="l" fontAlgn="b"/>
                      <a:r>
                        <a:rPr lang="en-IN" sz="1600" u="none" strike="noStrike">
                          <a:effectLst/>
                        </a:rPr>
                        <a:t>02am-03am</a:t>
                      </a:r>
                      <a:endParaRPr lang="en-IN" sz="1600" b="0" i="0" u="none" strike="noStrike">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u="none" strike="noStrike">
                          <a:effectLst/>
                        </a:rPr>
                        <a:t>1</a:t>
                      </a:r>
                      <a:endParaRPr lang="en-IN" sz="1600" b="0" i="0" u="none" strike="noStrike">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u="none" strike="noStrike" dirty="0">
                          <a:effectLst/>
                        </a:rPr>
                        <a:t>51</a:t>
                      </a:r>
                      <a:endParaRPr lang="en-IN" sz="1600" b="0" i="0" u="none" strike="noStrike" dirty="0">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b="0" i="0" u="none" strike="noStrike" dirty="0">
                          <a:solidFill>
                            <a:srgbClr val="000000"/>
                          </a:solidFill>
                          <a:effectLst/>
                          <a:latin typeface="Calibri" panose="020F0502020204030204" pitchFamily="34" charset="0"/>
                        </a:rPr>
                        <a:t>1</a:t>
                      </a:r>
                    </a:p>
                  </a:txBody>
                  <a:tcPr marL="7620" marR="7620" marT="7620" marB="0" anchor="b">
                    <a:solidFill>
                      <a:schemeClr val="tx2">
                        <a:lumMod val="20000"/>
                        <a:lumOff val="80000"/>
                      </a:schemeClr>
                    </a:solidFill>
                  </a:tcPr>
                </a:tc>
                <a:extLst>
                  <a:ext uri="{0D108BD9-81ED-4DB2-BD59-A6C34878D82A}">
                    <a16:rowId xmlns:a16="http://schemas.microsoft.com/office/drawing/2014/main" val="3401105427"/>
                  </a:ext>
                </a:extLst>
              </a:tr>
              <a:tr h="320355">
                <a:tc>
                  <a:txBody>
                    <a:bodyPr/>
                    <a:lstStyle/>
                    <a:p>
                      <a:pPr algn="l" fontAlgn="b"/>
                      <a:r>
                        <a:rPr lang="en-IN" sz="1600" u="none" strike="noStrike" dirty="0">
                          <a:effectLst/>
                        </a:rPr>
                        <a:t>03am-04am</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u="none" strike="noStrike" dirty="0">
                          <a:effectLst/>
                        </a:rPr>
                        <a:t>1</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u="none" strike="noStrike" dirty="0">
                          <a:effectLst/>
                        </a:rPr>
                        <a:t>51</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b="0" i="0" u="none" strike="noStrike">
                          <a:solidFill>
                            <a:srgbClr val="000000"/>
                          </a:solidFill>
                          <a:effectLst/>
                          <a:latin typeface="Calibri" panose="020F0502020204030204" pitchFamily="34" charset="0"/>
                        </a:rPr>
                        <a:t>1</a:t>
                      </a:r>
                    </a:p>
                  </a:txBody>
                  <a:tcPr marL="7620" marR="7620" marT="7620" marB="0" anchor="b">
                    <a:noFill/>
                  </a:tcPr>
                </a:tc>
                <a:extLst>
                  <a:ext uri="{0D108BD9-81ED-4DB2-BD59-A6C34878D82A}">
                    <a16:rowId xmlns:a16="http://schemas.microsoft.com/office/drawing/2014/main" val="1297579490"/>
                  </a:ext>
                </a:extLst>
              </a:tr>
              <a:tr h="320355">
                <a:tc>
                  <a:txBody>
                    <a:bodyPr/>
                    <a:lstStyle/>
                    <a:p>
                      <a:pPr algn="l" fontAlgn="b"/>
                      <a:r>
                        <a:rPr lang="en-IN" sz="1600" u="none" strike="noStrike">
                          <a:effectLst/>
                        </a:rPr>
                        <a:t>04am-05am</a:t>
                      </a:r>
                      <a:endParaRPr lang="en-IN" sz="1600" b="0" i="0" u="none" strike="noStrike">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u="none" strike="noStrike">
                          <a:effectLst/>
                        </a:rPr>
                        <a:t>1</a:t>
                      </a:r>
                      <a:endParaRPr lang="en-IN" sz="1600" b="0" i="0" u="none" strike="noStrike">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u="none" strike="noStrike">
                          <a:effectLst/>
                        </a:rPr>
                        <a:t>51</a:t>
                      </a:r>
                      <a:endParaRPr lang="en-IN" sz="1600" b="0" i="0" u="none" strike="noStrike">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b="0" i="0" u="none" strike="noStrike" dirty="0">
                          <a:solidFill>
                            <a:srgbClr val="000000"/>
                          </a:solidFill>
                          <a:effectLst/>
                          <a:latin typeface="Calibri" panose="020F0502020204030204" pitchFamily="34" charset="0"/>
                        </a:rPr>
                        <a:t>1</a:t>
                      </a:r>
                    </a:p>
                  </a:txBody>
                  <a:tcPr marL="7620" marR="7620" marT="7620" marB="0" anchor="b">
                    <a:solidFill>
                      <a:schemeClr val="tx2">
                        <a:lumMod val="20000"/>
                        <a:lumOff val="80000"/>
                      </a:schemeClr>
                    </a:solidFill>
                  </a:tcPr>
                </a:tc>
                <a:extLst>
                  <a:ext uri="{0D108BD9-81ED-4DB2-BD59-A6C34878D82A}">
                    <a16:rowId xmlns:a16="http://schemas.microsoft.com/office/drawing/2014/main" val="2749262257"/>
                  </a:ext>
                </a:extLst>
              </a:tr>
              <a:tr h="320355">
                <a:tc>
                  <a:txBody>
                    <a:bodyPr/>
                    <a:lstStyle/>
                    <a:p>
                      <a:pPr algn="l" fontAlgn="b"/>
                      <a:r>
                        <a:rPr lang="en-IN" sz="1600" u="none" strike="noStrike" dirty="0">
                          <a:effectLst/>
                        </a:rPr>
                        <a:t>05am-06am</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u="none" strike="noStrike" dirty="0">
                          <a:effectLst/>
                        </a:rPr>
                        <a:t>3</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u="none" strike="noStrike" dirty="0">
                          <a:effectLst/>
                        </a:rPr>
                        <a:t>154</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b="0" i="0" u="none" strike="noStrike" dirty="0">
                          <a:solidFill>
                            <a:srgbClr val="000000"/>
                          </a:solidFill>
                          <a:effectLst/>
                          <a:latin typeface="Calibri" panose="020F0502020204030204" pitchFamily="34" charset="0"/>
                        </a:rPr>
                        <a:t>2</a:t>
                      </a:r>
                    </a:p>
                  </a:txBody>
                  <a:tcPr marL="7620" marR="7620" marT="7620" marB="0" anchor="b">
                    <a:noFill/>
                  </a:tcPr>
                </a:tc>
                <a:extLst>
                  <a:ext uri="{0D108BD9-81ED-4DB2-BD59-A6C34878D82A}">
                    <a16:rowId xmlns:a16="http://schemas.microsoft.com/office/drawing/2014/main" val="1772201597"/>
                  </a:ext>
                </a:extLst>
              </a:tr>
              <a:tr h="320355">
                <a:tc>
                  <a:txBody>
                    <a:bodyPr/>
                    <a:lstStyle/>
                    <a:p>
                      <a:pPr algn="l" fontAlgn="b"/>
                      <a:r>
                        <a:rPr lang="en-IN" sz="1600" u="none" strike="noStrike">
                          <a:effectLst/>
                        </a:rPr>
                        <a:t>06am-07am</a:t>
                      </a:r>
                      <a:endParaRPr lang="en-IN" sz="1600" b="0" i="0" u="none" strike="noStrike">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u="none" strike="noStrike">
                          <a:effectLst/>
                        </a:rPr>
                        <a:t>4</a:t>
                      </a:r>
                      <a:endParaRPr lang="en-IN" sz="1600" b="0" i="0" u="none" strike="noStrike">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u="none" strike="noStrike">
                          <a:effectLst/>
                        </a:rPr>
                        <a:t>205</a:t>
                      </a:r>
                      <a:endParaRPr lang="en-IN" sz="1600" b="0" i="0" u="none" strike="noStrike">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b="0" i="0" u="none" strike="noStrike" dirty="0">
                          <a:solidFill>
                            <a:srgbClr val="000000"/>
                          </a:solidFill>
                          <a:effectLst/>
                          <a:latin typeface="Calibri" panose="020F0502020204030204" pitchFamily="34" charset="0"/>
                        </a:rPr>
                        <a:t>2</a:t>
                      </a:r>
                    </a:p>
                  </a:txBody>
                  <a:tcPr marL="7620" marR="7620" marT="7620" marB="0" anchor="b">
                    <a:solidFill>
                      <a:schemeClr val="tx2">
                        <a:lumMod val="20000"/>
                        <a:lumOff val="80000"/>
                      </a:schemeClr>
                    </a:solidFill>
                  </a:tcPr>
                </a:tc>
                <a:extLst>
                  <a:ext uri="{0D108BD9-81ED-4DB2-BD59-A6C34878D82A}">
                    <a16:rowId xmlns:a16="http://schemas.microsoft.com/office/drawing/2014/main" val="4186633302"/>
                  </a:ext>
                </a:extLst>
              </a:tr>
              <a:tr h="320355">
                <a:tc>
                  <a:txBody>
                    <a:bodyPr/>
                    <a:lstStyle/>
                    <a:p>
                      <a:pPr algn="l" fontAlgn="b"/>
                      <a:r>
                        <a:rPr lang="en-IN" sz="1600" u="none" strike="noStrike" dirty="0">
                          <a:effectLst/>
                        </a:rPr>
                        <a:t>07am-08am</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u="none" strike="noStrike" dirty="0">
                          <a:effectLst/>
                        </a:rPr>
                        <a:t>4</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u="none" strike="noStrike" dirty="0">
                          <a:effectLst/>
                        </a:rPr>
                        <a:t>205</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b="0" i="0" u="none" strike="noStrike" dirty="0">
                          <a:solidFill>
                            <a:srgbClr val="000000"/>
                          </a:solidFill>
                          <a:effectLst/>
                          <a:latin typeface="Calibri" panose="020F0502020204030204" pitchFamily="34" charset="0"/>
                        </a:rPr>
                        <a:t>2</a:t>
                      </a:r>
                    </a:p>
                  </a:txBody>
                  <a:tcPr marL="7620" marR="7620" marT="7620" marB="0" anchor="b">
                    <a:noFill/>
                  </a:tcPr>
                </a:tc>
                <a:extLst>
                  <a:ext uri="{0D108BD9-81ED-4DB2-BD59-A6C34878D82A}">
                    <a16:rowId xmlns:a16="http://schemas.microsoft.com/office/drawing/2014/main" val="2197007673"/>
                  </a:ext>
                </a:extLst>
              </a:tr>
              <a:tr h="320355">
                <a:tc>
                  <a:txBody>
                    <a:bodyPr/>
                    <a:lstStyle/>
                    <a:p>
                      <a:pPr algn="l" fontAlgn="b"/>
                      <a:r>
                        <a:rPr lang="en-IN" sz="1600" u="none" strike="noStrike">
                          <a:effectLst/>
                        </a:rPr>
                        <a:t>08am-09am</a:t>
                      </a:r>
                      <a:endParaRPr lang="en-IN" sz="1600" b="0" i="0" u="none" strike="noStrike">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u="none" strike="noStrike">
                          <a:effectLst/>
                        </a:rPr>
                        <a:t>5</a:t>
                      </a:r>
                      <a:endParaRPr lang="en-IN" sz="1600" b="0" i="0" u="none" strike="noStrike">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u="none" strike="noStrike">
                          <a:effectLst/>
                        </a:rPr>
                        <a:t>256</a:t>
                      </a:r>
                      <a:endParaRPr lang="en-IN" sz="1600" b="0" i="0" u="none" strike="noStrike">
                        <a:solidFill>
                          <a:srgbClr val="000000"/>
                        </a:solidFill>
                        <a:effectLst/>
                        <a:latin typeface="Calibri" panose="020F0502020204030204" pitchFamily="34" charset="0"/>
                      </a:endParaRPr>
                    </a:p>
                  </a:txBody>
                  <a:tcPr marL="7620" marR="7620" marT="7620" marB="0" anchor="b">
                    <a:solidFill>
                      <a:schemeClr val="tx2">
                        <a:lumMod val="20000"/>
                        <a:lumOff val="80000"/>
                      </a:schemeClr>
                    </a:solidFill>
                  </a:tcPr>
                </a:tc>
                <a:tc>
                  <a:txBody>
                    <a:bodyPr/>
                    <a:lstStyle/>
                    <a:p>
                      <a:pPr algn="r" fontAlgn="b"/>
                      <a:r>
                        <a:rPr lang="en-IN" sz="1600" b="0" i="0" u="none" strike="noStrike" dirty="0">
                          <a:solidFill>
                            <a:srgbClr val="000000"/>
                          </a:solidFill>
                          <a:effectLst/>
                          <a:latin typeface="Calibri" panose="020F0502020204030204" pitchFamily="34" charset="0"/>
                        </a:rPr>
                        <a:t>3</a:t>
                      </a:r>
                    </a:p>
                  </a:txBody>
                  <a:tcPr marL="7620" marR="7620" marT="7620" marB="0" anchor="b">
                    <a:solidFill>
                      <a:schemeClr val="tx2">
                        <a:lumMod val="20000"/>
                        <a:lumOff val="80000"/>
                      </a:schemeClr>
                    </a:solidFill>
                  </a:tcPr>
                </a:tc>
                <a:extLst>
                  <a:ext uri="{0D108BD9-81ED-4DB2-BD59-A6C34878D82A}">
                    <a16:rowId xmlns:a16="http://schemas.microsoft.com/office/drawing/2014/main" val="3031337050"/>
                  </a:ext>
                </a:extLst>
              </a:tr>
              <a:tr h="320355">
                <a:tc>
                  <a:txBody>
                    <a:bodyPr/>
                    <a:lstStyle/>
                    <a:p>
                      <a:pPr algn="l" fontAlgn="b"/>
                      <a:r>
                        <a:rPr lang="en-IN" sz="1600" u="none" strike="noStrike" dirty="0">
                          <a:effectLst/>
                        </a:rPr>
                        <a:t>Total</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u="none" strike="noStrike" dirty="0">
                          <a:effectLst/>
                        </a:rPr>
                        <a:t>30</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u="none" strike="noStrike" dirty="0">
                          <a:effectLst/>
                        </a:rPr>
                        <a:t>1539</a:t>
                      </a:r>
                      <a:endParaRPr lang="en-IN" sz="1600" b="0" i="0" u="none" strike="noStrike" dirty="0">
                        <a:solidFill>
                          <a:srgbClr val="000000"/>
                        </a:solidFill>
                        <a:effectLst/>
                        <a:latin typeface="Calibri" panose="020F0502020204030204" pitchFamily="34" charset="0"/>
                      </a:endParaRPr>
                    </a:p>
                  </a:txBody>
                  <a:tcPr marL="7620" marR="7620" marT="7620" marB="0" anchor="b">
                    <a:noFill/>
                  </a:tcPr>
                </a:tc>
                <a:tc>
                  <a:txBody>
                    <a:bodyPr/>
                    <a:lstStyle/>
                    <a:p>
                      <a:pPr algn="r" fontAlgn="b"/>
                      <a:r>
                        <a:rPr lang="en-IN" sz="1600" b="0" i="0" u="none" strike="noStrike" dirty="0">
                          <a:solidFill>
                            <a:srgbClr val="000000"/>
                          </a:solidFill>
                          <a:effectLst/>
                          <a:latin typeface="Calibri" panose="020F0502020204030204" pitchFamily="34" charset="0"/>
                        </a:rPr>
                        <a:t>17</a:t>
                      </a:r>
                    </a:p>
                  </a:txBody>
                  <a:tcPr marL="7620" marR="7620" marT="7620" marB="0" anchor="b">
                    <a:noFill/>
                  </a:tcPr>
                </a:tc>
                <a:extLst>
                  <a:ext uri="{0D108BD9-81ED-4DB2-BD59-A6C34878D82A}">
                    <a16:rowId xmlns:a16="http://schemas.microsoft.com/office/drawing/2014/main" val="526612609"/>
                  </a:ext>
                </a:extLst>
              </a:tr>
            </a:tbl>
          </a:graphicData>
        </a:graphic>
      </p:graphicFrame>
    </p:spTree>
    <p:extLst>
      <p:ext uri="{BB962C8B-B14F-4D97-AF65-F5344CB8AC3E}">
        <p14:creationId xmlns:p14="http://schemas.microsoft.com/office/powerpoint/2010/main" val="4233691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8C5835-2D26-7ADF-3551-A535E6AC22A6}"/>
              </a:ext>
            </a:extLst>
          </p:cNvPr>
          <p:cNvSpPr>
            <a:spLocks noGrp="1"/>
          </p:cNvSpPr>
          <p:nvPr>
            <p:ph type="title"/>
          </p:nvPr>
        </p:nvSpPr>
        <p:spPr/>
        <p:txBody>
          <a:bodyPr/>
          <a:lstStyle/>
          <a:p>
            <a:r>
              <a:rPr lang="en-IN" b="1" dirty="0"/>
              <a:t>results</a:t>
            </a:r>
          </a:p>
        </p:txBody>
      </p:sp>
      <p:sp>
        <p:nvSpPr>
          <p:cNvPr id="6" name="Content Placeholder 5">
            <a:extLst>
              <a:ext uri="{FF2B5EF4-FFF2-40B4-BE49-F238E27FC236}">
                <a16:creationId xmlns:a16="http://schemas.microsoft.com/office/drawing/2014/main" id="{306A0FAE-9960-4C35-67BB-E1791BA6228F}"/>
              </a:ext>
            </a:extLst>
          </p:cNvPr>
          <p:cNvSpPr>
            <a:spLocks noGrp="1"/>
          </p:cNvSpPr>
          <p:nvPr>
            <p:ph idx="1"/>
          </p:nvPr>
        </p:nvSpPr>
        <p:spPr>
          <a:xfrm>
            <a:off x="5242425" y="2176698"/>
            <a:ext cx="6241650" cy="3474720"/>
          </a:xfrm>
        </p:spPr>
        <p:txBody>
          <a:bodyPr anchor="ctr"/>
          <a:lstStyle/>
          <a:p>
            <a:r>
              <a:rPr lang="en-US" dirty="0"/>
              <a:t>The busiest time for agents is from 11 AM to 12 PM.</a:t>
            </a:r>
          </a:p>
          <a:p>
            <a:r>
              <a:rPr lang="en-US" dirty="0"/>
              <a:t>The company needs an additional 12 agents to achieve the required 90% answer rate.</a:t>
            </a:r>
          </a:p>
          <a:p>
            <a:r>
              <a:rPr lang="en-US" dirty="0"/>
              <a:t>The company needs 17 night agents to achieve a 90% answer rate for customer queries received at night.</a:t>
            </a:r>
            <a:endParaRPr lang="en-IN" dirty="0"/>
          </a:p>
        </p:txBody>
      </p:sp>
    </p:spTree>
    <p:extLst>
      <p:ext uri="{BB962C8B-B14F-4D97-AF65-F5344CB8AC3E}">
        <p14:creationId xmlns:p14="http://schemas.microsoft.com/office/powerpoint/2010/main" val="3073920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362437" y="400485"/>
            <a:ext cx="9467127" cy="2527911"/>
          </a:xfrm>
        </p:spPr>
        <p:txBody>
          <a:bodyPr/>
          <a:lstStyle/>
          <a:p>
            <a:r>
              <a:rPr lang="en-US" b="1" dirty="0"/>
              <a:t>THANK YOU</a:t>
            </a:r>
          </a:p>
        </p:txBody>
      </p:sp>
      <p:sp>
        <p:nvSpPr>
          <p:cNvPr id="8" name="Text Placeholder 7">
            <a:extLst>
              <a:ext uri="{FF2B5EF4-FFF2-40B4-BE49-F238E27FC236}">
                <a16:creationId xmlns:a16="http://schemas.microsoft.com/office/drawing/2014/main" id="{86613063-168A-02B8-4326-BB842F3B83E2}"/>
              </a:ext>
            </a:extLst>
          </p:cNvPr>
          <p:cNvSpPr>
            <a:spLocks noGrp="1"/>
          </p:cNvSpPr>
          <p:nvPr>
            <p:ph type="body" sz="quarter" idx="10"/>
          </p:nvPr>
        </p:nvSpPr>
        <p:spPr>
          <a:xfrm>
            <a:off x="1362075" y="3738622"/>
            <a:ext cx="9467850" cy="2527911"/>
          </a:xfrm>
        </p:spPr>
        <p:txBody>
          <a:bodyPr/>
          <a:lstStyle/>
          <a:p>
            <a:r>
              <a:rPr lang="en-US" dirty="0"/>
              <a:t>For the Excel sheet please follow given link:-</a:t>
            </a:r>
          </a:p>
          <a:p>
            <a:r>
              <a:rPr lang="en-US" sz="2400" b="1" dirty="0">
                <a:hlinkClick r:id="rId3"/>
              </a:rPr>
              <a:t>Excel Sheet</a:t>
            </a:r>
            <a:endParaRPr lang="en-US" sz="2400" b="1" dirty="0"/>
          </a:p>
        </p:txBody>
      </p:sp>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in32_SL_V16" id="{C08B0D31-9878-4B86-9AA2-489D9D63805D}" vid="{DECC9CCA-8386-4D88-B03D-E024FA4FDF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F048343-1EA9-44C3-883E-652FAAF0713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Custom</Template>
  <TotalTime>778</TotalTime>
  <Words>870</Words>
  <Application>Microsoft Office PowerPoint</Application>
  <PresentationFormat>Widescreen</PresentationFormat>
  <Paragraphs>134</Paragraphs>
  <Slides>13</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Calibri Light</vt:lpstr>
      <vt:lpstr>Wingdings</vt:lpstr>
      <vt:lpstr>Custom</vt:lpstr>
      <vt:lpstr>ABC Call Volume Trend Analysis   Sumeet Dutta</vt:lpstr>
      <vt:lpstr>Content</vt:lpstr>
      <vt:lpstr>Project description</vt:lpstr>
      <vt:lpstr>assumption</vt:lpstr>
      <vt:lpstr>Project approach</vt:lpstr>
      <vt:lpstr>Tech-stack used</vt:lpstr>
      <vt:lpstr>objectives</vt:lpstr>
      <vt:lpstr>Task 1 Average Call Duration</vt:lpstr>
      <vt:lpstr>Task 2 Call Volume Analysis</vt:lpstr>
      <vt:lpstr>Task 3 Manpower Planning</vt:lpstr>
      <vt:lpstr>Task 4 Night Shift Manpower Planning</vt:lpstr>
      <vt:lpstr>results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creator>Sumeet Dutta</dc:creator>
  <cp:lastModifiedBy>Sumeet Dutta</cp:lastModifiedBy>
  <cp:revision>2</cp:revision>
  <dcterms:created xsi:type="dcterms:W3CDTF">2024-02-14T18:56:44Z</dcterms:created>
  <dcterms:modified xsi:type="dcterms:W3CDTF">2024-11-15T14:11:37Z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